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  <p:embeddedFont>
      <p:font typeface="Hedvig Letters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f/8/3/f8331092-d733-49ab-9681-ecfc3a1c5e25_large/dark-geometric-elegance-stockcak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515" r="151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D8F8A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252538"/>
            <a:ext cx="2076450" cy="390525"/>
          </a:xfrm>
          <a:custGeom>
            <a:avLst/>
            <a:gdLst/>
            <a:ahLst/>
            <a:cxnLst/>
            <a:rect l="l" t="t" r="r" b="b"/>
            <a:pathLst>
              <a:path w="2076450" h="390525">
                <a:moveTo>
                  <a:pt x="195263" y="0"/>
                </a:moveTo>
                <a:lnTo>
                  <a:pt x="1881187" y="0"/>
                </a:lnTo>
                <a:cubicBezTo>
                  <a:pt x="1988956" y="0"/>
                  <a:pt x="2076450" y="87494"/>
                  <a:pt x="2076450" y="195263"/>
                </a:cubicBezTo>
                <a:lnTo>
                  <a:pt x="2076450" y="195263"/>
                </a:lnTo>
                <a:cubicBezTo>
                  <a:pt x="2076450" y="303031"/>
                  <a:pt x="1988956" y="390525"/>
                  <a:pt x="1881187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362075"/>
            <a:ext cx="176286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SaaS Platform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57425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FocusReward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0042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762375"/>
            <a:ext cx="7486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F1F5F5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Stop Paying for Courses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F1F5F5">
                    <a:alpha val="9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No One Finishes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863" y="50958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07682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Neel 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Diksha Anvesha Prithviraj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90973" y="5095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399" y="9019"/>
                </a:moveTo>
                <a:cubicBezTo>
                  <a:pt x="117024" y="6519"/>
                  <a:pt x="111621" y="6519"/>
                  <a:pt x="107201" y="9019"/>
                </a:cubicBezTo>
                <a:lnTo>
                  <a:pt x="7188" y="66169"/>
                </a:lnTo>
                <a:cubicBezTo>
                  <a:pt x="1563" y="69384"/>
                  <a:pt x="-1206" y="75992"/>
                  <a:pt x="446" y="82242"/>
                </a:cubicBezTo>
                <a:cubicBezTo>
                  <a:pt x="2098" y="88493"/>
                  <a:pt x="7813" y="92869"/>
                  <a:pt x="14288" y="92869"/>
                </a:cubicBezTo>
                <a:lnTo>
                  <a:pt x="28575" y="92869"/>
                </a:lnTo>
                <a:lnTo>
                  <a:pt x="28575" y="185738"/>
                </a:lnTo>
                <a:lnTo>
                  <a:pt x="28575" y="185738"/>
                </a:lnTo>
                <a:lnTo>
                  <a:pt x="5715" y="202883"/>
                </a:lnTo>
                <a:cubicBezTo>
                  <a:pt x="2098" y="205561"/>
                  <a:pt x="0" y="209803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214313" y="228600"/>
                </a:lnTo>
                <a:cubicBezTo>
                  <a:pt x="222215" y="228600"/>
                  <a:pt x="228600" y="222215"/>
                  <a:pt x="228600" y="214313"/>
                </a:cubicBezTo>
                <a:cubicBezTo>
                  <a:pt x="228600" y="209803"/>
                  <a:pt x="226502" y="205561"/>
                  <a:pt x="222885" y="202883"/>
                </a:cubicBezTo>
                <a:lnTo>
                  <a:pt x="200025" y="185738"/>
                </a:lnTo>
                <a:lnTo>
                  <a:pt x="200025" y="92869"/>
                </a:lnTo>
                <a:lnTo>
                  <a:pt x="214313" y="92869"/>
                </a:lnTo>
                <a:cubicBezTo>
                  <a:pt x="220787" y="92869"/>
                  <a:pt x="226457" y="88493"/>
                  <a:pt x="228109" y="82242"/>
                </a:cubicBezTo>
                <a:cubicBezTo>
                  <a:pt x="229761" y="75992"/>
                  <a:pt x="226993" y="69384"/>
                  <a:pt x="221367" y="66169"/>
                </a:cubicBezTo>
                <a:lnTo>
                  <a:pt x="121354" y="9019"/>
                </a:lnTo>
                <a:close/>
                <a:moveTo>
                  <a:pt x="178594" y="92869"/>
                </a:moveTo>
                <a:lnTo>
                  <a:pt x="178594" y="185738"/>
                </a:lnTo>
                <a:lnTo>
                  <a:pt x="150019" y="185738"/>
                </a:lnTo>
                <a:lnTo>
                  <a:pt x="150019" y="92869"/>
                </a:lnTo>
                <a:lnTo>
                  <a:pt x="178594" y="92869"/>
                </a:lnTo>
                <a:close/>
                <a:moveTo>
                  <a:pt x="128588" y="92869"/>
                </a:moveTo>
                <a:lnTo>
                  <a:pt x="128588" y="185738"/>
                </a:lnTo>
                <a:lnTo>
                  <a:pt x="100013" y="185738"/>
                </a:lnTo>
                <a:lnTo>
                  <a:pt x="100013" y="92869"/>
                </a:lnTo>
                <a:lnTo>
                  <a:pt x="128588" y="92869"/>
                </a:lnTo>
                <a:close/>
                <a:moveTo>
                  <a:pt x="78581" y="92869"/>
                </a:moveTo>
                <a:lnTo>
                  <a:pt x="78581" y="185738"/>
                </a:lnTo>
                <a:lnTo>
                  <a:pt x="50006" y="185738"/>
                </a:lnTo>
                <a:lnTo>
                  <a:pt x="50006" y="92869"/>
                </a:lnTo>
                <a:lnTo>
                  <a:pt x="78581" y="92869"/>
                </a:lnTo>
                <a:close/>
                <a:moveTo>
                  <a:pt x="114300" y="42863"/>
                </a:moveTo>
                <a:cubicBezTo>
                  <a:pt x="122185" y="42863"/>
                  <a:pt x="128588" y="49265"/>
                  <a:pt x="128588" y="57150"/>
                </a:cubicBezTo>
                <a:cubicBezTo>
                  <a:pt x="128588" y="65035"/>
                  <a:pt x="122185" y="71438"/>
                  <a:pt x="114300" y="71438"/>
                </a:cubicBezTo>
                <a:cubicBezTo>
                  <a:pt x="106415" y="71438"/>
                  <a:pt x="100013" y="65035"/>
                  <a:pt x="100013" y="57150"/>
                </a:cubicBezTo>
                <a:cubicBezTo>
                  <a:pt x="100013" y="49265"/>
                  <a:pt x="106415" y="42863"/>
                  <a:pt x="114300" y="4286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2625948" y="5076825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0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6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5" name="Shape 12"/>
          <p:cNvSpPr/>
          <p:nvPr/>
        </p:nvSpPr>
        <p:spPr>
          <a:xfrm>
            <a:off x="8382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6" name="Text 13"/>
          <p:cNvSpPr/>
          <p:nvPr/>
        </p:nvSpPr>
        <p:spPr>
          <a:xfrm>
            <a:off x="9961215" y="6210300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 Pitch Deck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62000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≠ Completion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409825"/>
            <a:ext cx="25812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&lt;15%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438525"/>
            <a:ext cx="57054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Completion Rates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910013"/>
            <a:ext cx="5657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1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millions enrolling in online courses, the vast majority never finish. Access to content doesn't translate to actual learning.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4910138"/>
            <a:ext cx="38100" cy="942975"/>
          </a:xfrm>
          <a:custGeom>
            <a:avLst/>
            <a:gdLst/>
            <a:ahLst/>
            <a:cxnLst/>
            <a:rect l="l" t="t" r="r" b="b"/>
            <a:pathLst>
              <a:path w="38100" h="942975">
                <a:moveTo>
                  <a:pt x="0" y="0"/>
                </a:moveTo>
                <a:lnTo>
                  <a:pt x="38100" y="0"/>
                </a:lnTo>
                <a:lnTo>
                  <a:pt x="3810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4910138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Engagement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5291138"/>
            <a:ext cx="5381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start strong but lose momentum. Employees get distracted. Institutions pay for content that goes unconsumed.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3163" y="1827609"/>
            <a:ext cx="5553075" cy="1838325"/>
          </a:xfrm>
          <a:custGeom>
            <a:avLst/>
            <a:gdLst/>
            <a:ahLst/>
            <a:cxnLst/>
            <a:rect l="l" t="t" r="r" b="b"/>
            <a:pathLst>
              <a:path w="5553075" h="1838325">
                <a:moveTo>
                  <a:pt x="152397" y="0"/>
                </a:moveTo>
                <a:lnTo>
                  <a:pt x="5400678" y="0"/>
                </a:lnTo>
                <a:cubicBezTo>
                  <a:pt x="5484788" y="0"/>
                  <a:pt x="5553075" y="68287"/>
                  <a:pt x="5553075" y="152397"/>
                </a:cubicBezTo>
                <a:lnTo>
                  <a:pt x="5553075" y="1685928"/>
                </a:lnTo>
                <a:cubicBezTo>
                  <a:pt x="5553075" y="1770038"/>
                  <a:pt x="5484788" y="1838325"/>
                  <a:pt x="5400678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2725" y="213717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09172" y="229909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362825" y="2137172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Lose Focus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2825" y="2518172"/>
            <a:ext cx="42195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accountability, learners abandon courses midway. No system exists to sustain motivation through completion.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53163" y="3901678"/>
            <a:ext cx="5553075" cy="1562100"/>
          </a:xfrm>
          <a:custGeom>
            <a:avLst/>
            <a:gdLst/>
            <a:ahLst/>
            <a:cxnLst/>
            <a:rect l="l" t="t" r="r" b="b"/>
            <a:pathLst>
              <a:path w="5553075" h="1562100">
                <a:moveTo>
                  <a:pt x="152398" y="0"/>
                </a:moveTo>
                <a:lnTo>
                  <a:pt x="5400677" y="0"/>
                </a:lnTo>
                <a:cubicBezTo>
                  <a:pt x="5484844" y="0"/>
                  <a:pt x="5553075" y="68231"/>
                  <a:pt x="5553075" y="152398"/>
                </a:cubicBezTo>
                <a:lnTo>
                  <a:pt x="5553075" y="1409702"/>
                </a:lnTo>
                <a:cubicBezTo>
                  <a:pt x="5553075" y="1493869"/>
                  <a:pt x="5484844" y="1562100"/>
                  <a:pt x="5400677" y="1562100"/>
                </a:cubicBezTo>
                <a:lnTo>
                  <a:pt x="152398" y="1562100"/>
                </a:lnTo>
                <a:cubicBezTo>
                  <a:pt x="68231" y="1562100"/>
                  <a:pt x="0" y="1493869"/>
                  <a:pt x="0" y="14097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2725" y="42112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62750" y="4373166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98227" y="196453"/>
                </a:moveTo>
                <a:lnTo>
                  <a:pt x="116086" y="196453"/>
                </a:lnTo>
                <a:cubicBezTo>
                  <a:pt x="125964" y="196453"/>
                  <a:pt x="133945" y="204434"/>
                  <a:pt x="133945" y="214313"/>
                </a:cubicBezTo>
                <a:lnTo>
                  <a:pt x="133945" y="258961"/>
                </a:lnTo>
                <a:lnTo>
                  <a:pt x="80367" y="258961"/>
                </a:lnTo>
                <a:lnTo>
                  <a:pt x="80367" y="214313"/>
                </a:lnTo>
                <a:cubicBezTo>
                  <a:pt x="80367" y="204434"/>
                  <a:pt x="88348" y="196453"/>
                  <a:pt x="98227" y="196453"/>
                </a:cubicBezTo>
                <a:close/>
                <a:moveTo>
                  <a:pt x="53578" y="62508"/>
                </a:moveTo>
                <a:cubicBezTo>
                  <a:pt x="53578" y="57596"/>
                  <a:pt x="57596" y="53578"/>
                  <a:pt x="62508" y="53578"/>
                </a:cubicBezTo>
                <a:lnTo>
                  <a:pt x="80367" y="53578"/>
                </a:lnTo>
                <a:cubicBezTo>
                  <a:pt x="85279" y="53578"/>
                  <a:pt x="89297" y="57596"/>
                  <a:pt x="89297" y="62508"/>
                </a:cubicBezTo>
                <a:lnTo>
                  <a:pt x="89297" y="80367"/>
                </a:lnTo>
                <a:cubicBezTo>
                  <a:pt x="89297" y="85279"/>
                  <a:pt x="85279" y="89297"/>
                  <a:pt x="80367" y="89297"/>
                </a:cubicBezTo>
                <a:lnTo>
                  <a:pt x="62508" y="89297"/>
                </a:lnTo>
                <a:cubicBezTo>
                  <a:pt x="57596" y="89297"/>
                  <a:pt x="53578" y="85279"/>
                  <a:pt x="53578" y="80367"/>
                </a:cubicBezTo>
                <a:lnTo>
                  <a:pt x="53578" y="62508"/>
                </a:lnTo>
                <a:close/>
                <a:moveTo>
                  <a:pt x="133945" y="53578"/>
                </a:moveTo>
                <a:lnTo>
                  <a:pt x="151805" y="53578"/>
                </a:lnTo>
                <a:cubicBezTo>
                  <a:pt x="156716" y="53578"/>
                  <a:pt x="160734" y="57596"/>
                  <a:pt x="160734" y="62508"/>
                </a:cubicBezTo>
                <a:lnTo>
                  <a:pt x="160734" y="80367"/>
                </a:lnTo>
                <a:cubicBezTo>
                  <a:pt x="160734" y="85279"/>
                  <a:pt x="156716" y="89297"/>
                  <a:pt x="151805" y="89297"/>
                </a:cubicBezTo>
                <a:lnTo>
                  <a:pt x="133945" y="89297"/>
                </a:lnTo>
                <a:cubicBezTo>
                  <a:pt x="129034" y="89297"/>
                  <a:pt x="125016" y="85279"/>
                  <a:pt x="125016" y="80367"/>
                </a:cubicBezTo>
                <a:lnTo>
                  <a:pt x="125016" y="62508"/>
                </a:lnTo>
                <a:cubicBezTo>
                  <a:pt x="125016" y="57596"/>
                  <a:pt x="129034" y="53578"/>
                  <a:pt x="133945" y="53578"/>
                </a:cubicBezTo>
                <a:close/>
                <a:moveTo>
                  <a:pt x="53578" y="133945"/>
                </a:moveTo>
                <a:cubicBezTo>
                  <a:pt x="53578" y="129034"/>
                  <a:pt x="57596" y="125016"/>
                  <a:pt x="62508" y="125016"/>
                </a:cubicBezTo>
                <a:lnTo>
                  <a:pt x="80367" y="125016"/>
                </a:lnTo>
                <a:cubicBezTo>
                  <a:pt x="85279" y="125016"/>
                  <a:pt x="89297" y="129034"/>
                  <a:pt x="89297" y="133945"/>
                </a:cubicBezTo>
                <a:lnTo>
                  <a:pt x="89297" y="151805"/>
                </a:lnTo>
                <a:cubicBezTo>
                  <a:pt x="89297" y="156716"/>
                  <a:pt x="85279" y="160734"/>
                  <a:pt x="80367" y="160734"/>
                </a:cubicBezTo>
                <a:lnTo>
                  <a:pt x="62508" y="160734"/>
                </a:lnTo>
                <a:cubicBezTo>
                  <a:pt x="57596" y="160734"/>
                  <a:pt x="53578" y="156716"/>
                  <a:pt x="53578" y="151805"/>
                </a:cubicBezTo>
                <a:lnTo>
                  <a:pt x="53578" y="133945"/>
                </a:lnTo>
                <a:close/>
                <a:moveTo>
                  <a:pt x="133945" y="125016"/>
                </a:moveTo>
                <a:lnTo>
                  <a:pt x="151805" y="125016"/>
                </a:lnTo>
                <a:cubicBezTo>
                  <a:pt x="156716" y="125016"/>
                  <a:pt x="160734" y="129034"/>
                  <a:pt x="160734" y="133945"/>
                </a:cubicBezTo>
                <a:lnTo>
                  <a:pt x="160734" y="151805"/>
                </a:lnTo>
                <a:cubicBezTo>
                  <a:pt x="160734" y="156716"/>
                  <a:pt x="156716" y="160734"/>
                  <a:pt x="151805" y="160734"/>
                </a:cubicBezTo>
                <a:lnTo>
                  <a:pt x="133945" y="160734"/>
                </a:lnTo>
                <a:cubicBezTo>
                  <a:pt x="129034" y="160734"/>
                  <a:pt x="125016" y="156716"/>
                  <a:pt x="125016" y="151805"/>
                </a:cubicBezTo>
                <a:lnTo>
                  <a:pt x="125016" y="133945"/>
                </a:lnTo>
                <a:cubicBezTo>
                  <a:pt x="125016" y="129034"/>
                  <a:pt x="129034" y="125016"/>
                  <a:pt x="133945" y="12501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Text 16"/>
          <p:cNvSpPr/>
          <p:nvPr/>
        </p:nvSpPr>
        <p:spPr>
          <a:xfrm>
            <a:off x="7362825" y="4211241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 Waste Investment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62825" y="4592241"/>
            <a:ext cx="42195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Colleges and corporates spend heavily on L&amp;D with no visibility into whether learning actually happens.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3163" y="5697141"/>
            <a:ext cx="5553075" cy="733425"/>
          </a:xfrm>
          <a:custGeom>
            <a:avLst/>
            <a:gdLst/>
            <a:ahLst/>
            <a:cxnLst/>
            <a:rect l="l" t="t" r="r" b="b"/>
            <a:pathLst>
              <a:path w="5553075" h="733425">
                <a:moveTo>
                  <a:pt x="152398" y="0"/>
                </a:moveTo>
                <a:lnTo>
                  <a:pt x="5400677" y="0"/>
                </a:lnTo>
                <a:cubicBezTo>
                  <a:pt x="5484844" y="0"/>
                  <a:pt x="5553075" y="68231"/>
                  <a:pt x="5553075" y="152398"/>
                </a:cubicBezTo>
                <a:lnTo>
                  <a:pt x="5553075" y="581027"/>
                </a:lnTo>
                <a:cubicBezTo>
                  <a:pt x="5553075" y="665194"/>
                  <a:pt x="5484844" y="733425"/>
                  <a:pt x="5400677" y="733425"/>
                </a:cubicBezTo>
                <a:lnTo>
                  <a:pt x="152398" y="733425"/>
                </a:lnTo>
                <a:cubicBezTo>
                  <a:pt x="68231" y="733425"/>
                  <a:pt x="0" y="665194"/>
                  <a:pt x="0" y="581027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2700">
            <a:solidFill>
              <a:srgbClr val="E9C46A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338" y="59638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0375" y="5930503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result: Massive waste of time, money, and potential.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spc="112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95092" cy="53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54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Incomplete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371" y="1388681"/>
            <a:ext cx="5625712" cy="4773869"/>
          </a:xfrm>
          <a:custGeom>
            <a:avLst/>
            <a:gdLst/>
            <a:ahLst/>
            <a:cxnLst/>
            <a:rect l="l" t="t" r="r" b="b"/>
            <a:pathLst>
              <a:path w="5625712" h="4773869">
                <a:moveTo>
                  <a:pt x="141975" y="0"/>
                </a:moveTo>
                <a:lnTo>
                  <a:pt x="5483737" y="0"/>
                </a:lnTo>
                <a:cubicBezTo>
                  <a:pt x="5562147" y="0"/>
                  <a:pt x="5625712" y="63564"/>
                  <a:pt x="5625712" y="141975"/>
                </a:cubicBezTo>
                <a:lnTo>
                  <a:pt x="5625712" y="4631894"/>
                </a:lnTo>
                <a:cubicBezTo>
                  <a:pt x="5625712" y="4710305"/>
                  <a:pt x="5562147" y="4773869"/>
                  <a:pt x="5483737" y="4773869"/>
                </a:cubicBezTo>
                <a:lnTo>
                  <a:pt x="141975" y="4773869"/>
                </a:lnTo>
                <a:cubicBezTo>
                  <a:pt x="63564" y="4773869"/>
                  <a:pt x="0" y="4710305"/>
                  <a:pt x="0" y="4631894"/>
                </a:cubicBezTo>
                <a:lnTo>
                  <a:pt x="0" y="141975"/>
                </a:lnTo>
                <a:cubicBezTo>
                  <a:pt x="0" y="63564"/>
                  <a:pt x="63564" y="0"/>
                  <a:pt x="14197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55" y="1677066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141974" y="0"/>
                </a:moveTo>
                <a:lnTo>
                  <a:pt x="425921" y="0"/>
                </a:lnTo>
                <a:cubicBezTo>
                  <a:pt x="504331" y="0"/>
                  <a:pt x="567895" y="63564"/>
                  <a:pt x="567895" y="141974"/>
                </a:cubicBezTo>
                <a:lnTo>
                  <a:pt x="567895" y="425921"/>
                </a:lnTo>
                <a:cubicBezTo>
                  <a:pt x="567895" y="504331"/>
                  <a:pt x="504331" y="567895"/>
                  <a:pt x="425921" y="567895"/>
                </a:cubicBezTo>
                <a:lnTo>
                  <a:pt x="141974" y="567895"/>
                </a:lnTo>
                <a:cubicBezTo>
                  <a:pt x="63564" y="567895"/>
                  <a:pt x="0" y="504331"/>
                  <a:pt x="0" y="425921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821" y="1827913"/>
            <a:ext cx="266201" cy="266201"/>
          </a:xfrm>
          <a:custGeom>
            <a:avLst/>
            <a:gdLst/>
            <a:ahLst/>
            <a:cxnLst/>
            <a:rect l="l" t="t" r="r" b="b"/>
            <a:pathLst>
              <a:path w="266201" h="266201">
                <a:moveTo>
                  <a:pt x="141367" y="10502"/>
                </a:moveTo>
                <a:cubicBezTo>
                  <a:pt x="136272" y="7591"/>
                  <a:pt x="129981" y="7591"/>
                  <a:pt x="124834" y="10502"/>
                </a:cubicBezTo>
                <a:lnTo>
                  <a:pt x="8371" y="77053"/>
                </a:lnTo>
                <a:cubicBezTo>
                  <a:pt x="1820" y="80796"/>
                  <a:pt x="-1404" y="88491"/>
                  <a:pt x="520" y="95770"/>
                </a:cubicBezTo>
                <a:cubicBezTo>
                  <a:pt x="2444" y="103049"/>
                  <a:pt x="9099" y="108144"/>
                  <a:pt x="16638" y="108144"/>
                </a:cubicBezTo>
                <a:lnTo>
                  <a:pt x="33275" y="108144"/>
                </a:lnTo>
                <a:lnTo>
                  <a:pt x="33275" y="216288"/>
                </a:lnTo>
                <a:lnTo>
                  <a:pt x="33275" y="216288"/>
                </a:lnTo>
                <a:lnTo>
                  <a:pt x="6655" y="236253"/>
                </a:lnTo>
                <a:cubicBezTo>
                  <a:pt x="2444" y="239373"/>
                  <a:pt x="0" y="244312"/>
                  <a:pt x="0" y="249563"/>
                </a:cubicBezTo>
                <a:cubicBezTo>
                  <a:pt x="0" y="258766"/>
                  <a:pt x="7435" y="266201"/>
                  <a:pt x="16638" y="266201"/>
                </a:cubicBezTo>
                <a:lnTo>
                  <a:pt x="249563" y="266201"/>
                </a:lnTo>
                <a:cubicBezTo>
                  <a:pt x="258766" y="266201"/>
                  <a:pt x="266201" y="258766"/>
                  <a:pt x="266201" y="249563"/>
                </a:cubicBezTo>
                <a:cubicBezTo>
                  <a:pt x="266201" y="244312"/>
                  <a:pt x="263757" y="239373"/>
                  <a:pt x="259546" y="236253"/>
                </a:cubicBezTo>
                <a:lnTo>
                  <a:pt x="232926" y="216288"/>
                </a:lnTo>
                <a:lnTo>
                  <a:pt x="232926" y="108144"/>
                </a:lnTo>
                <a:lnTo>
                  <a:pt x="249563" y="108144"/>
                </a:lnTo>
                <a:cubicBezTo>
                  <a:pt x="257102" y="108144"/>
                  <a:pt x="263705" y="103049"/>
                  <a:pt x="265629" y="95770"/>
                </a:cubicBezTo>
                <a:cubicBezTo>
                  <a:pt x="267553" y="88491"/>
                  <a:pt x="264329" y="80796"/>
                  <a:pt x="257778" y="77053"/>
                </a:cubicBezTo>
                <a:lnTo>
                  <a:pt x="141315" y="10502"/>
                </a:lnTo>
                <a:close/>
                <a:moveTo>
                  <a:pt x="207969" y="108144"/>
                </a:moveTo>
                <a:lnTo>
                  <a:pt x="207969" y="216288"/>
                </a:lnTo>
                <a:lnTo>
                  <a:pt x="174694" y="216288"/>
                </a:lnTo>
                <a:lnTo>
                  <a:pt x="174694" y="108144"/>
                </a:lnTo>
                <a:lnTo>
                  <a:pt x="207969" y="108144"/>
                </a:lnTo>
                <a:close/>
                <a:moveTo>
                  <a:pt x="149738" y="108144"/>
                </a:moveTo>
                <a:lnTo>
                  <a:pt x="149738" y="216288"/>
                </a:lnTo>
                <a:lnTo>
                  <a:pt x="116463" y="216288"/>
                </a:lnTo>
                <a:lnTo>
                  <a:pt x="116463" y="108144"/>
                </a:lnTo>
                <a:lnTo>
                  <a:pt x="149738" y="108144"/>
                </a:lnTo>
                <a:close/>
                <a:moveTo>
                  <a:pt x="91507" y="108144"/>
                </a:moveTo>
                <a:lnTo>
                  <a:pt x="91507" y="216288"/>
                </a:lnTo>
                <a:lnTo>
                  <a:pt x="58231" y="216288"/>
                </a:lnTo>
                <a:lnTo>
                  <a:pt x="58231" y="108144"/>
                </a:lnTo>
                <a:lnTo>
                  <a:pt x="91507" y="108144"/>
                </a:lnTo>
                <a:close/>
                <a:moveTo>
                  <a:pt x="133100" y="49913"/>
                </a:moveTo>
                <a:cubicBezTo>
                  <a:pt x="142283" y="49913"/>
                  <a:pt x="149738" y="57368"/>
                  <a:pt x="149738" y="66550"/>
                </a:cubicBezTo>
                <a:cubicBezTo>
                  <a:pt x="149738" y="75733"/>
                  <a:pt x="142283" y="83188"/>
                  <a:pt x="133100" y="83188"/>
                </a:cubicBezTo>
                <a:cubicBezTo>
                  <a:pt x="123918" y="83188"/>
                  <a:pt x="116463" y="75733"/>
                  <a:pt x="116463" y="66550"/>
                </a:cubicBezTo>
                <a:cubicBezTo>
                  <a:pt x="116463" y="57368"/>
                  <a:pt x="123918" y="49913"/>
                  <a:pt x="133100" y="49913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1357624" y="1801293"/>
            <a:ext cx="1162410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6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7755" y="2493415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7581" y="2591022"/>
            <a:ext cx="159721" cy="159721"/>
          </a:xfrm>
          <a:custGeom>
            <a:avLst/>
            <a:gdLst/>
            <a:ahLst/>
            <a:cxnLst/>
            <a:rect l="l" t="t" r="r" b="b"/>
            <a:pathLst>
              <a:path w="159721" h="159721">
                <a:moveTo>
                  <a:pt x="20558" y="71282"/>
                </a:moveTo>
                <a:cubicBezTo>
                  <a:pt x="24707" y="42270"/>
                  <a:pt x="49694" y="19965"/>
                  <a:pt x="79860" y="19965"/>
                </a:cubicBezTo>
                <a:cubicBezTo>
                  <a:pt x="96394" y="19965"/>
                  <a:pt x="111368" y="26672"/>
                  <a:pt x="122224" y="37497"/>
                </a:cubicBezTo>
                <a:cubicBezTo>
                  <a:pt x="122286" y="37559"/>
                  <a:pt x="122348" y="37622"/>
                  <a:pt x="122411" y="37684"/>
                </a:cubicBezTo>
                <a:lnTo>
                  <a:pt x="124782" y="39930"/>
                </a:lnTo>
                <a:lnTo>
                  <a:pt x="109839" y="39930"/>
                </a:lnTo>
                <a:cubicBezTo>
                  <a:pt x="104317" y="39930"/>
                  <a:pt x="99857" y="44391"/>
                  <a:pt x="99857" y="49913"/>
                </a:cubicBezTo>
                <a:cubicBezTo>
                  <a:pt x="99857" y="55434"/>
                  <a:pt x="104317" y="59895"/>
                  <a:pt x="109839" y="59895"/>
                </a:cubicBezTo>
                <a:lnTo>
                  <a:pt x="149769" y="59895"/>
                </a:lnTo>
                <a:cubicBezTo>
                  <a:pt x="155291" y="59895"/>
                  <a:pt x="159752" y="55434"/>
                  <a:pt x="159752" y="49913"/>
                </a:cubicBezTo>
                <a:lnTo>
                  <a:pt x="159752" y="9983"/>
                </a:lnTo>
                <a:cubicBezTo>
                  <a:pt x="159752" y="4461"/>
                  <a:pt x="155291" y="0"/>
                  <a:pt x="149769" y="0"/>
                </a:cubicBezTo>
                <a:cubicBezTo>
                  <a:pt x="144248" y="0"/>
                  <a:pt x="139787" y="4461"/>
                  <a:pt x="139787" y="9983"/>
                </a:cubicBezTo>
                <a:lnTo>
                  <a:pt x="139787" y="26641"/>
                </a:lnTo>
                <a:lnTo>
                  <a:pt x="136262" y="23303"/>
                </a:lnTo>
                <a:cubicBezTo>
                  <a:pt x="121818" y="8922"/>
                  <a:pt x="101853" y="0"/>
                  <a:pt x="79860" y="0"/>
                </a:cubicBezTo>
                <a:cubicBezTo>
                  <a:pt x="39618" y="0"/>
                  <a:pt x="6333" y="29760"/>
                  <a:pt x="811" y="68474"/>
                </a:cubicBezTo>
                <a:cubicBezTo>
                  <a:pt x="31" y="73933"/>
                  <a:pt x="3806" y="78987"/>
                  <a:pt x="9265" y="79767"/>
                </a:cubicBezTo>
                <a:cubicBezTo>
                  <a:pt x="14724" y="80547"/>
                  <a:pt x="19778" y="76741"/>
                  <a:pt x="20558" y="71313"/>
                </a:cubicBezTo>
                <a:close/>
                <a:moveTo>
                  <a:pt x="158909" y="91247"/>
                </a:moveTo>
                <a:cubicBezTo>
                  <a:pt x="159689" y="85787"/>
                  <a:pt x="155883" y="80734"/>
                  <a:pt x="150455" y="79954"/>
                </a:cubicBezTo>
                <a:cubicBezTo>
                  <a:pt x="145027" y="79174"/>
                  <a:pt x="139943" y="82980"/>
                  <a:pt x="139163" y="88408"/>
                </a:cubicBezTo>
                <a:cubicBezTo>
                  <a:pt x="135014" y="117420"/>
                  <a:pt x="110026" y="139724"/>
                  <a:pt x="79860" y="139724"/>
                </a:cubicBezTo>
                <a:cubicBezTo>
                  <a:pt x="63327" y="139724"/>
                  <a:pt x="48353" y="133017"/>
                  <a:pt x="37497" y="122192"/>
                </a:cubicBezTo>
                <a:cubicBezTo>
                  <a:pt x="37434" y="122130"/>
                  <a:pt x="37372" y="122068"/>
                  <a:pt x="37310" y="122005"/>
                </a:cubicBezTo>
                <a:lnTo>
                  <a:pt x="34939" y="119759"/>
                </a:lnTo>
                <a:lnTo>
                  <a:pt x="49881" y="119759"/>
                </a:lnTo>
                <a:cubicBezTo>
                  <a:pt x="55403" y="119759"/>
                  <a:pt x="59864" y="115298"/>
                  <a:pt x="59864" y="109777"/>
                </a:cubicBezTo>
                <a:cubicBezTo>
                  <a:pt x="59864" y="104255"/>
                  <a:pt x="55403" y="99794"/>
                  <a:pt x="49881" y="99794"/>
                </a:cubicBezTo>
                <a:lnTo>
                  <a:pt x="9983" y="99825"/>
                </a:lnTo>
                <a:cubicBezTo>
                  <a:pt x="7331" y="99825"/>
                  <a:pt x="4773" y="100886"/>
                  <a:pt x="2901" y="102789"/>
                </a:cubicBezTo>
                <a:cubicBezTo>
                  <a:pt x="1029" y="104692"/>
                  <a:pt x="-31" y="107219"/>
                  <a:pt x="0" y="109901"/>
                </a:cubicBezTo>
                <a:lnTo>
                  <a:pt x="312" y="149520"/>
                </a:lnTo>
                <a:cubicBezTo>
                  <a:pt x="343" y="155041"/>
                  <a:pt x="4866" y="159471"/>
                  <a:pt x="10388" y="159409"/>
                </a:cubicBezTo>
                <a:cubicBezTo>
                  <a:pt x="15910" y="159346"/>
                  <a:pt x="20339" y="154854"/>
                  <a:pt x="20277" y="149332"/>
                </a:cubicBezTo>
                <a:lnTo>
                  <a:pt x="20152" y="133267"/>
                </a:lnTo>
                <a:lnTo>
                  <a:pt x="23490" y="136418"/>
                </a:lnTo>
                <a:cubicBezTo>
                  <a:pt x="37934" y="150799"/>
                  <a:pt x="57867" y="159721"/>
                  <a:pt x="79860" y="159721"/>
                </a:cubicBezTo>
                <a:cubicBezTo>
                  <a:pt x="120102" y="159721"/>
                  <a:pt x="153388" y="129960"/>
                  <a:pt x="158909" y="91247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1144664" y="2457921"/>
            <a:ext cx="464076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Placement Rates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4664" y="2741869"/>
            <a:ext cx="462302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lack demonstrable skills, affecting college rankings and recruiter confidence.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55" y="3416245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7616" y="3513852"/>
            <a:ext cx="199651" cy="159721"/>
          </a:xfrm>
          <a:custGeom>
            <a:avLst/>
            <a:gdLst/>
            <a:ahLst/>
            <a:cxnLst/>
            <a:rect l="l" t="t" r="r" b="b"/>
            <a:pathLst>
              <a:path w="199651" h="159721">
                <a:moveTo>
                  <a:pt x="22773" y="-7768"/>
                </a:moveTo>
                <a:cubicBezTo>
                  <a:pt x="19840" y="-10700"/>
                  <a:pt x="15099" y="-10700"/>
                  <a:pt x="12197" y="-7768"/>
                </a:cubicBezTo>
                <a:cubicBezTo>
                  <a:pt x="9296" y="-4835"/>
                  <a:pt x="9265" y="-94"/>
                  <a:pt x="12166" y="2839"/>
                </a:cubicBezTo>
                <a:lnTo>
                  <a:pt x="176878" y="167551"/>
                </a:lnTo>
                <a:cubicBezTo>
                  <a:pt x="179810" y="170483"/>
                  <a:pt x="184552" y="170483"/>
                  <a:pt x="187453" y="167551"/>
                </a:cubicBezTo>
                <a:cubicBezTo>
                  <a:pt x="190354" y="164618"/>
                  <a:pt x="190386" y="159877"/>
                  <a:pt x="187453" y="156975"/>
                </a:cubicBezTo>
                <a:lnTo>
                  <a:pt x="100387" y="69878"/>
                </a:lnTo>
                <a:cubicBezTo>
                  <a:pt x="118043" y="69566"/>
                  <a:pt x="132269" y="55153"/>
                  <a:pt x="132269" y="37434"/>
                </a:cubicBezTo>
                <a:cubicBezTo>
                  <a:pt x="132269" y="19528"/>
                  <a:pt x="117731" y="4991"/>
                  <a:pt x="99825" y="4991"/>
                </a:cubicBezTo>
                <a:cubicBezTo>
                  <a:pt x="82106" y="4991"/>
                  <a:pt x="67694" y="19216"/>
                  <a:pt x="67382" y="36873"/>
                </a:cubicBezTo>
                <a:lnTo>
                  <a:pt x="22773" y="-7768"/>
                </a:lnTo>
                <a:close/>
                <a:moveTo>
                  <a:pt x="159721" y="89843"/>
                </a:moveTo>
                <a:cubicBezTo>
                  <a:pt x="154355" y="89843"/>
                  <a:pt x="149208" y="90903"/>
                  <a:pt x="144528" y="92838"/>
                </a:cubicBezTo>
                <a:lnTo>
                  <a:pt x="197561" y="145870"/>
                </a:lnTo>
                <a:cubicBezTo>
                  <a:pt x="198871" y="144185"/>
                  <a:pt x="199651" y="142064"/>
                  <a:pt x="199651" y="139755"/>
                </a:cubicBezTo>
                <a:lnTo>
                  <a:pt x="199651" y="129773"/>
                </a:lnTo>
                <a:cubicBezTo>
                  <a:pt x="199651" y="107718"/>
                  <a:pt x="181776" y="89843"/>
                  <a:pt x="159721" y="89843"/>
                </a:cubicBezTo>
                <a:close/>
                <a:moveTo>
                  <a:pt x="18686" y="30478"/>
                </a:moveTo>
                <a:cubicBezTo>
                  <a:pt x="11979" y="34377"/>
                  <a:pt x="7487" y="41615"/>
                  <a:pt x="7487" y="49913"/>
                </a:cubicBezTo>
                <a:cubicBezTo>
                  <a:pt x="7487" y="62328"/>
                  <a:pt x="17532" y="72373"/>
                  <a:pt x="29948" y="72373"/>
                </a:cubicBezTo>
                <a:cubicBezTo>
                  <a:pt x="38246" y="72373"/>
                  <a:pt x="45483" y="67881"/>
                  <a:pt x="49382" y="61174"/>
                </a:cubicBezTo>
                <a:lnTo>
                  <a:pt x="18686" y="30478"/>
                </a:lnTo>
                <a:close/>
                <a:moveTo>
                  <a:pt x="78051" y="89843"/>
                </a:moveTo>
                <a:cubicBezTo>
                  <a:pt x="61393" y="97922"/>
                  <a:pt x="49913" y="115017"/>
                  <a:pt x="49913" y="134764"/>
                </a:cubicBezTo>
                <a:lnTo>
                  <a:pt x="49913" y="139755"/>
                </a:lnTo>
                <a:cubicBezTo>
                  <a:pt x="49913" y="145277"/>
                  <a:pt x="54374" y="149738"/>
                  <a:pt x="59895" y="149738"/>
                </a:cubicBezTo>
                <a:lnTo>
                  <a:pt x="137946" y="149738"/>
                </a:lnTo>
                <a:lnTo>
                  <a:pt x="78051" y="89843"/>
                </a:lnTo>
                <a:close/>
                <a:moveTo>
                  <a:pt x="39930" y="89843"/>
                </a:moveTo>
                <a:cubicBezTo>
                  <a:pt x="17875" y="89843"/>
                  <a:pt x="0" y="107718"/>
                  <a:pt x="0" y="129773"/>
                </a:cubicBezTo>
                <a:lnTo>
                  <a:pt x="0" y="139755"/>
                </a:lnTo>
                <a:cubicBezTo>
                  <a:pt x="0" y="145277"/>
                  <a:pt x="4461" y="149738"/>
                  <a:pt x="9983" y="149738"/>
                </a:cubicBezTo>
                <a:lnTo>
                  <a:pt x="37029" y="149738"/>
                </a:lnTo>
                <a:cubicBezTo>
                  <a:pt x="35688" y="146681"/>
                  <a:pt x="34939" y="143312"/>
                  <a:pt x="34939" y="139755"/>
                </a:cubicBezTo>
                <a:lnTo>
                  <a:pt x="34939" y="134764"/>
                </a:lnTo>
                <a:cubicBezTo>
                  <a:pt x="34939" y="118168"/>
                  <a:pt x="41178" y="103007"/>
                  <a:pt x="51441" y="91527"/>
                </a:cubicBezTo>
                <a:cubicBezTo>
                  <a:pt x="47791" y="90436"/>
                  <a:pt x="43923" y="89843"/>
                  <a:pt x="39930" y="89843"/>
                </a:cubicBezTo>
                <a:close/>
                <a:moveTo>
                  <a:pt x="192164" y="49913"/>
                </a:moveTo>
                <a:cubicBezTo>
                  <a:pt x="192164" y="37516"/>
                  <a:pt x="182099" y="27452"/>
                  <a:pt x="169703" y="27452"/>
                </a:cubicBezTo>
                <a:cubicBezTo>
                  <a:pt x="157307" y="27452"/>
                  <a:pt x="147242" y="37516"/>
                  <a:pt x="147242" y="49913"/>
                </a:cubicBezTo>
                <a:cubicBezTo>
                  <a:pt x="147242" y="62309"/>
                  <a:pt x="157307" y="72373"/>
                  <a:pt x="169703" y="72373"/>
                </a:cubicBezTo>
                <a:cubicBezTo>
                  <a:pt x="182099" y="72373"/>
                  <a:pt x="192164" y="62309"/>
                  <a:pt x="192164" y="49913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1144664" y="3380751"/>
            <a:ext cx="4569782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Student Engagement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4664" y="3664699"/>
            <a:ext cx="4552035" cy="2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dropout rates from online programs damage institutional reputation.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7755" y="4108367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7581" y="4205974"/>
            <a:ext cx="159721" cy="159721"/>
          </a:xfrm>
          <a:custGeom>
            <a:avLst/>
            <a:gdLst/>
            <a:ahLst/>
            <a:cxnLst/>
            <a:rect l="l" t="t" r="r" b="b"/>
            <a:pathLst>
              <a:path w="159721" h="159721">
                <a:moveTo>
                  <a:pt x="0" y="130896"/>
                </a:moveTo>
                <a:lnTo>
                  <a:pt x="0" y="34159"/>
                </a:lnTo>
                <a:cubicBezTo>
                  <a:pt x="0" y="26922"/>
                  <a:pt x="7518" y="22118"/>
                  <a:pt x="14443" y="24176"/>
                </a:cubicBezTo>
                <a:cubicBezTo>
                  <a:pt x="41802" y="32350"/>
                  <a:pt x="61143" y="25892"/>
                  <a:pt x="80609" y="19404"/>
                </a:cubicBezTo>
                <a:cubicBezTo>
                  <a:pt x="100730" y="12697"/>
                  <a:pt x="120976" y="5958"/>
                  <a:pt x="150268" y="15317"/>
                </a:cubicBezTo>
                <a:cubicBezTo>
                  <a:pt x="156039" y="17157"/>
                  <a:pt x="159721" y="22741"/>
                  <a:pt x="159721" y="28825"/>
                </a:cubicBezTo>
                <a:lnTo>
                  <a:pt x="159721" y="125562"/>
                </a:lnTo>
                <a:cubicBezTo>
                  <a:pt x="159721" y="132799"/>
                  <a:pt x="152202" y="137603"/>
                  <a:pt x="145308" y="135544"/>
                </a:cubicBezTo>
                <a:cubicBezTo>
                  <a:pt x="117950" y="127371"/>
                  <a:pt x="98578" y="133828"/>
                  <a:pt x="79143" y="140317"/>
                </a:cubicBezTo>
                <a:cubicBezTo>
                  <a:pt x="59022" y="147024"/>
                  <a:pt x="38776" y="153762"/>
                  <a:pt x="9483" y="144404"/>
                </a:cubicBezTo>
                <a:cubicBezTo>
                  <a:pt x="3712" y="142563"/>
                  <a:pt x="31" y="136979"/>
                  <a:pt x="31" y="130896"/>
                </a:cubicBezTo>
                <a:close/>
                <a:moveTo>
                  <a:pt x="104817" y="79860"/>
                </a:moveTo>
                <a:cubicBezTo>
                  <a:pt x="104817" y="63327"/>
                  <a:pt x="93649" y="49913"/>
                  <a:pt x="79860" y="49913"/>
                </a:cubicBezTo>
                <a:cubicBezTo>
                  <a:pt x="66072" y="49913"/>
                  <a:pt x="54904" y="63327"/>
                  <a:pt x="54904" y="79860"/>
                </a:cubicBezTo>
                <a:cubicBezTo>
                  <a:pt x="54904" y="96394"/>
                  <a:pt x="66072" y="109808"/>
                  <a:pt x="79860" y="109808"/>
                </a:cubicBezTo>
                <a:cubicBezTo>
                  <a:pt x="93649" y="109808"/>
                  <a:pt x="104817" y="96394"/>
                  <a:pt x="104817" y="79860"/>
                </a:cubicBezTo>
                <a:close/>
                <a:moveTo>
                  <a:pt x="37434" y="129024"/>
                </a:moveTo>
                <a:cubicBezTo>
                  <a:pt x="38807" y="129024"/>
                  <a:pt x="39899" y="127839"/>
                  <a:pt x="39681" y="126497"/>
                </a:cubicBezTo>
                <a:cubicBezTo>
                  <a:pt x="38246" y="117825"/>
                  <a:pt x="31258" y="111056"/>
                  <a:pt x="22461" y="109964"/>
                </a:cubicBezTo>
                <a:cubicBezTo>
                  <a:pt x="21088" y="109808"/>
                  <a:pt x="19965" y="110931"/>
                  <a:pt x="19965" y="112303"/>
                </a:cubicBezTo>
                <a:lnTo>
                  <a:pt x="19965" y="124750"/>
                </a:lnTo>
                <a:cubicBezTo>
                  <a:pt x="19965" y="125873"/>
                  <a:pt x="20714" y="126872"/>
                  <a:pt x="21837" y="127153"/>
                </a:cubicBezTo>
                <a:cubicBezTo>
                  <a:pt x="27421" y="128463"/>
                  <a:pt x="32537" y="129055"/>
                  <a:pt x="37434" y="129055"/>
                </a:cubicBezTo>
                <a:close/>
                <a:moveTo>
                  <a:pt x="136792" y="113083"/>
                </a:moveTo>
                <a:cubicBezTo>
                  <a:pt x="138352" y="113333"/>
                  <a:pt x="139755" y="112148"/>
                  <a:pt x="139755" y="110588"/>
                </a:cubicBezTo>
                <a:lnTo>
                  <a:pt x="139755" y="97298"/>
                </a:lnTo>
                <a:cubicBezTo>
                  <a:pt x="139755" y="95926"/>
                  <a:pt x="138632" y="94772"/>
                  <a:pt x="137260" y="94959"/>
                </a:cubicBezTo>
                <a:cubicBezTo>
                  <a:pt x="129399" y="95926"/>
                  <a:pt x="122941" y="101479"/>
                  <a:pt x="120664" y="108872"/>
                </a:cubicBezTo>
                <a:cubicBezTo>
                  <a:pt x="120227" y="110338"/>
                  <a:pt x="121381" y="111711"/>
                  <a:pt x="122910" y="111742"/>
                </a:cubicBezTo>
                <a:cubicBezTo>
                  <a:pt x="127340" y="111867"/>
                  <a:pt x="131957" y="112272"/>
                  <a:pt x="136761" y="113083"/>
                </a:cubicBezTo>
                <a:close/>
                <a:moveTo>
                  <a:pt x="139755" y="47417"/>
                </a:moveTo>
                <a:lnTo>
                  <a:pt x="139755" y="34970"/>
                </a:lnTo>
                <a:cubicBezTo>
                  <a:pt x="139755" y="33847"/>
                  <a:pt x="138976" y="32849"/>
                  <a:pt x="137884" y="32568"/>
                </a:cubicBezTo>
                <a:cubicBezTo>
                  <a:pt x="132300" y="31258"/>
                  <a:pt x="127184" y="30665"/>
                  <a:pt x="122286" y="30665"/>
                </a:cubicBezTo>
                <a:cubicBezTo>
                  <a:pt x="120913" y="30665"/>
                  <a:pt x="119822" y="31851"/>
                  <a:pt x="120040" y="33192"/>
                </a:cubicBezTo>
                <a:cubicBezTo>
                  <a:pt x="121475" y="41864"/>
                  <a:pt x="128463" y="48634"/>
                  <a:pt x="137260" y="49725"/>
                </a:cubicBezTo>
                <a:cubicBezTo>
                  <a:pt x="138632" y="49881"/>
                  <a:pt x="139755" y="48758"/>
                  <a:pt x="139755" y="47386"/>
                </a:cubicBezTo>
                <a:close/>
                <a:moveTo>
                  <a:pt x="39057" y="50817"/>
                </a:moveTo>
                <a:cubicBezTo>
                  <a:pt x="39493" y="49351"/>
                  <a:pt x="38339" y="47979"/>
                  <a:pt x="36811" y="47947"/>
                </a:cubicBezTo>
                <a:cubicBezTo>
                  <a:pt x="32381" y="47823"/>
                  <a:pt x="27764" y="47417"/>
                  <a:pt x="22960" y="46606"/>
                </a:cubicBezTo>
                <a:cubicBezTo>
                  <a:pt x="21400" y="46356"/>
                  <a:pt x="19996" y="47542"/>
                  <a:pt x="19996" y="49102"/>
                </a:cubicBezTo>
                <a:lnTo>
                  <a:pt x="19965" y="62391"/>
                </a:lnTo>
                <a:cubicBezTo>
                  <a:pt x="19965" y="63763"/>
                  <a:pt x="21088" y="64918"/>
                  <a:pt x="22461" y="64730"/>
                </a:cubicBezTo>
                <a:cubicBezTo>
                  <a:pt x="30322" y="63763"/>
                  <a:pt x="36779" y="58211"/>
                  <a:pt x="39057" y="50817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4664" y="4072873"/>
            <a:ext cx="464076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Wasted L&amp;D Budgets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4664" y="4356821"/>
            <a:ext cx="462302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in online learning platforms yields minimal measurable outcomes.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755" y="5479301"/>
            <a:ext cx="5048943" cy="8873"/>
          </a:xfrm>
          <a:custGeom>
            <a:avLst/>
            <a:gdLst/>
            <a:ahLst/>
            <a:cxnLst/>
            <a:rect l="l" t="t" r="r" b="b"/>
            <a:pathLst>
              <a:path w="5048943" h="8873">
                <a:moveTo>
                  <a:pt x="0" y="0"/>
                </a:moveTo>
                <a:lnTo>
                  <a:pt x="5048943" y="0"/>
                </a:lnTo>
                <a:lnTo>
                  <a:pt x="5048943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7755" y="5661205"/>
            <a:ext cx="5119930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Loss:</a:t>
            </a:r>
            <a:pPr>
              <a:lnSpc>
                <a:spcPct val="130000"/>
              </a:lnSpc>
            </a:pPr>
            <a:r>
              <a:rPr lang="en-US" sz="1118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Reduced enrollment, lower fees, diminished brand value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7888" y="1388681"/>
            <a:ext cx="5625712" cy="4773869"/>
          </a:xfrm>
          <a:custGeom>
            <a:avLst/>
            <a:gdLst/>
            <a:ahLst/>
            <a:cxnLst/>
            <a:rect l="l" t="t" r="r" b="b"/>
            <a:pathLst>
              <a:path w="5625712" h="4773869">
                <a:moveTo>
                  <a:pt x="141975" y="0"/>
                </a:moveTo>
                <a:lnTo>
                  <a:pt x="5483737" y="0"/>
                </a:lnTo>
                <a:cubicBezTo>
                  <a:pt x="5562147" y="0"/>
                  <a:pt x="5625712" y="63564"/>
                  <a:pt x="5625712" y="141975"/>
                </a:cubicBezTo>
                <a:lnTo>
                  <a:pt x="5625712" y="4631894"/>
                </a:lnTo>
                <a:cubicBezTo>
                  <a:pt x="5625712" y="4710305"/>
                  <a:pt x="5562147" y="4773869"/>
                  <a:pt x="5483737" y="4773869"/>
                </a:cubicBezTo>
                <a:lnTo>
                  <a:pt x="141975" y="4773869"/>
                </a:lnTo>
                <a:cubicBezTo>
                  <a:pt x="63564" y="4773869"/>
                  <a:pt x="0" y="4710305"/>
                  <a:pt x="0" y="4631894"/>
                </a:cubicBezTo>
                <a:lnTo>
                  <a:pt x="0" y="141975"/>
                </a:lnTo>
                <a:cubicBezTo>
                  <a:pt x="0" y="63564"/>
                  <a:pt x="63564" y="0"/>
                  <a:pt x="141975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30000"/>
                </a:srgbClr>
              </a:gs>
              <a:gs pos="100000">
                <a:srgbClr val="3D8F8A">
                  <a:alpha val="10000"/>
                </a:srgbClr>
              </a:gs>
            </a:gsLst>
            <a:lin ang="2700000" scaled="1"/>
          </a:gra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6272" y="1677066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141974" y="0"/>
                </a:moveTo>
                <a:lnTo>
                  <a:pt x="425921" y="0"/>
                </a:lnTo>
                <a:cubicBezTo>
                  <a:pt x="504331" y="0"/>
                  <a:pt x="567895" y="63564"/>
                  <a:pt x="567895" y="141974"/>
                </a:cubicBezTo>
                <a:lnTo>
                  <a:pt x="567895" y="425921"/>
                </a:lnTo>
                <a:cubicBezTo>
                  <a:pt x="567895" y="504331"/>
                  <a:pt x="504331" y="567895"/>
                  <a:pt x="425921" y="567895"/>
                </a:cubicBezTo>
                <a:lnTo>
                  <a:pt x="141974" y="567895"/>
                </a:lnTo>
                <a:cubicBezTo>
                  <a:pt x="63564" y="567895"/>
                  <a:pt x="0" y="504331"/>
                  <a:pt x="0" y="425921"/>
                </a:cubicBezTo>
                <a:lnTo>
                  <a:pt x="0" y="141974"/>
                </a:lnTo>
                <a:cubicBezTo>
                  <a:pt x="0" y="63616"/>
                  <a:pt x="63616" y="0"/>
                  <a:pt x="141974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682612" y="1827913"/>
            <a:ext cx="199651" cy="266201"/>
          </a:xfrm>
          <a:custGeom>
            <a:avLst/>
            <a:gdLst/>
            <a:ahLst/>
            <a:cxnLst/>
            <a:rect l="l" t="t" r="r" b="b"/>
            <a:pathLst>
              <a:path w="199651" h="266201">
                <a:moveTo>
                  <a:pt x="33275" y="0"/>
                </a:moveTo>
                <a:cubicBezTo>
                  <a:pt x="14922" y="0"/>
                  <a:pt x="0" y="14922"/>
                  <a:pt x="0" y="33275"/>
                </a:cubicBezTo>
                <a:lnTo>
                  <a:pt x="0" y="232926"/>
                </a:lnTo>
                <a:cubicBezTo>
                  <a:pt x="0" y="251279"/>
                  <a:pt x="14922" y="266201"/>
                  <a:pt x="33275" y="266201"/>
                </a:cubicBezTo>
                <a:lnTo>
                  <a:pt x="166376" y="266201"/>
                </a:lnTo>
                <a:cubicBezTo>
                  <a:pt x="184729" y="266201"/>
                  <a:pt x="199651" y="251279"/>
                  <a:pt x="199651" y="232926"/>
                </a:cubicBezTo>
                <a:lnTo>
                  <a:pt x="199651" y="33275"/>
                </a:lnTo>
                <a:cubicBezTo>
                  <a:pt x="199651" y="14922"/>
                  <a:pt x="184729" y="0"/>
                  <a:pt x="166376" y="0"/>
                </a:cubicBezTo>
                <a:lnTo>
                  <a:pt x="33275" y="0"/>
                </a:lnTo>
                <a:close/>
                <a:moveTo>
                  <a:pt x="91507" y="183013"/>
                </a:moveTo>
                <a:lnTo>
                  <a:pt x="108144" y="183013"/>
                </a:lnTo>
                <a:cubicBezTo>
                  <a:pt x="117347" y="183013"/>
                  <a:pt x="124782" y="190448"/>
                  <a:pt x="124782" y="199651"/>
                </a:cubicBezTo>
                <a:lnTo>
                  <a:pt x="124782" y="241245"/>
                </a:lnTo>
                <a:lnTo>
                  <a:pt x="74869" y="241245"/>
                </a:lnTo>
                <a:lnTo>
                  <a:pt x="74869" y="199651"/>
                </a:lnTo>
                <a:cubicBezTo>
                  <a:pt x="74869" y="190448"/>
                  <a:pt x="82304" y="183013"/>
                  <a:pt x="91507" y="183013"/>
                </a:cubicBezTo>
                <a:close/>
                <a:moveTo>
                  <a:pt x="49913" y="58231"/>
                </a:moveTo>
                <a:cubicBezTo>
                  <a:pt x="49913" y="53656"/>
                  <a:pt x="53656" y="49913"/>
                  <a:pt x="58231" y="49913"/>
                </a:cubicBezTo>
                <a:lnTo>
                  <a:pt x="74869" y="49913"/>
                </a:lnTo>
                <a:cubicBezTo>
                  <a:pt x="79444" y="49913"/>
                  <a:pt x="83188" y="53656"/>
                  <a:pt x="83188" y="58231"/>
                </a:cubicBezTo>
                <a:lnTo>
                  <a:pt x="83188" y="74869"/>
                </a:lnTo>
                <a:cubicBezTo>
                  <a:pt x="83188" y="79444"/>
                  <a:pt x="79444" y="83188"/>
                  <a:pt x="74869" y="83188"/>
                </a:cubicBezTo>
                <a:lnTo>
                  <a:pt x="58231" y="83188"/>
                </a:lnTo>
                <a:cubicBezTo>
                  <a:pt x="53656" y="83188"/>
                  <a:pt x="49913" y="79444"/>
                  <a:pt x="49913" y="74869"/>
                </a:cubicBezTo>
                <a:lnTo>
                  <a:pt x="49913" y="58231"/>
                </a:lnTo>
                <a:close/>
                <a:moveTo>
                  <a:pt x="124782" y="49913"/>
                </a:moveTo>
                <a:lnTo>
                  <a:pt x="141419" y="49913"/>
                </a:lnTo>
                <a:cubicBezTo>
                  <a:pt x="145995" y="49913"/>
                  <a:pt x="149738" y="53656"/>
                  <a:pt x="149738" y="58231"/>
                </a:cubicBezTo>
                <a:lnTo>
                  <a:pt x="149738" y="74869"/>
                </a:lnTo>
                <a:cubicBezTo>
                  <a:pt x="149738" y="79444"/>
                  <a:pt x="145995" y="83188"/>
                  <a:pt x="141419" y="83188"/>
                </a:cubicBezTo>
                <a:lnTo>
                  <a:pt x="124782" y="83188"/>
                </a:lnTo>
                <a:cubicBezTo>
                  <a:pt x="120206" y="83188"/>
                  <a:pt x="116463" y="79444"/>
                  <a:pt x="116463" y="74869"/>
                </a:cubicBezTo>
                <a:lnTo>
                  <a:pt x="116463" y="58231"/>
                </a:lnTo>
                <a:cubicBezTo>
                  <a:pt x="116463" y="53656"/>
                  <a:pt x="120206" y="49913"/>
                  <a:pt x="124782" y="49913"/>
                </a:cubicBezTo>
                <a:close/>
                <a:moveTo>
                  <a:pt x="49913" y="124782"/>
                </a:moveTo>
                <a:cubicBezTo>
                  <a:pt x="49913" y="120206"/>
                  <a:pt x="53656" y="116463"/>
                  <a:pt x="58231" y="116463"/>
                </a:cubicBezTo>
                <a:lnTo>
                  <a:pt x="74869" y="116463"/>
                </a:lnTo>
                <a:cubicBezTo>
                  <a:pt x="79444" y="116463"/>
                  <a:pt x="83188" y="120206"/>
                  <a:pt x="83188" y="124782"/>
                </a:cubicBezTo>
                <a:lnTo>
                  <a:pt x="83188" y="141419"/>
                </a:lnTo>
                <a:cubicBezTo>
                  <a:pt x="83188" y="145995"/>
                  <a:pt x="79444" y="149738"/>
                  <a:pt x="74869" y="149738"/>
                </a:cubicBezTo>
                <a:lnTo>
                  <a:pt x="58231" y="149738"/>
                </a:lnTo>
                <a:cubicBezTo>
                  <a:pt x="53656" y="149738"/>
                  <a:pt x="49913" y="145995"/>
                  <a:pt x="49913" y="141419"/>
                </a:cubicBezTo>
                <a:lnTo>
                  <a:pt x="49913" y="124782"/>
                </a:lnTo>
                <a:close/>
                <a:moveTo>
                  <a:pt x="124782" y="116463"/>
                </a:moveTo>
                <a:lnTo>
                  <a:pt x="141419" y="116463"/>
                </a:lnTo>
                <a:cubicBezTo>
                  <a:pt x="145995" y="116463"/>
                  <a:pt x="149738" y="120206"/>
                  <a:pt x="149738" y="124782"/>
                </a:cubicBezTo>
                <a:lnTo>
                  <a:pt x="149738" y="141419"/>
                </a:lnTo>
                <a:cubicBezTo>
                  <a:pt x="149738" y="145995"/>
                  <a:pt x="145995" y="149738"/>
                  <a:pt x="141419" y="149738"/>
                </a:cubicBezTo>
                <a:lnTo>
                  <a:pt x="124782" y="149738"/>
                </a:lnTo>
                <a:cubicBezTo>
                  <a:pt x="120206" y="149738"/>
                  <a:pt x="116463" y="145995"/>
                  <a:pt x="116463" y="141419"/>
                </a:cubicBezTo>
                <a:lnTo>
                  <a:pt x="116463" y="124782"/>
                </a:lnTo>
                <a:cubicBezTo>
                  <a:pt x="116463" y="120206"/>
                  <a:pt x="120206" y="116463"/>
                  <a:pt x="124782" y="11646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7206141" y="1801293"/>
            <a:ext cx="1446358" cy="31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96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6272" y="2493415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6115" y="2591022"/>
            <a:ext cx="179686" cy="159721"/>
          </a:xfrm>
          <a:custGeom>
            <a:avLst/>
            <a:gdLst/>
            <a:ahLst/>
            <a:cxnLst/>
            <a:rect l="l" t="t" r="r" b="b"/>
            <a:pathLst>
              <a:path w="179686" h="159721">
                <a:moveTo>
                  <a:pt x="159845" y="74869"/>
                </a:moveTo>
                <a:lnTo>
                  <a:pt x="104941" y="74869"/>
                </a:lnTo>
                <a:cubicBezTo>
                  <a:pt x="99420" y="74869"/>
                  <a:pt x="94959" y="70408"/>
                  <a:pt x="94959" y="64886"/>
                </a:cubicBezTo>
                <a:lnTo>
                  <a:pt x="94959" y="9983"/>
                </a:lnTo>
                <a:cubicBezTo>
                  <a:pt x="94959" y="4461"/>
                  <a:pt x="99451" y="-62"/>
                  <a:pt x="104910" y="655"/>
                </a:cubicBezTo>
                <a:cubicBezTo>
                  <a:pt x="138289" y="5085"/>
                  <a:pt x="164743" y="31539"/>
                  <a:pt x="169173" y="64918"/>
                </a:cubicBezTo>
                <a:cubicBezTo>
                  <a:pt x="169890" y="70377"/>
                  <a:pt x="165367" y="74869"/>
                  <a:pt x="159845" y="74869"/>
                </a:cubicBezTo>
                <a:close/>
                <a:moveTo>
                  <a:pt x="69441" y="11605"/>
                </a:moveTo>
                <a:cubicBezTo>
                  <a:pt x="75087" y="10419"/>
                  <a:pt x="79985" y="15036"/>
                  <a:pt x="79985" y="20807"/>
                </a:cubicBezTo>
                <a:lnTo>
                  <a:pt x="79985" y="82356"/>
                </a:lnTo>
                <a:cubicBezTo>
                  <a:pt x="79985" y="84103"/>
                  <a:pt x="80609" y="85787"/>
                  <a:pt x="81701" y="87129"/>
                </a:cubicBezTo>
                <a:lnTo>
                  <a:pt x="122910" y="136854"/>
                </a:lnTo>
                <a:cubicBezTo>
                  <a:pt x="126560" y="141253"/>
                  <a:pt x="125780" y="147897"/>
                  <a:pt x="120757" y="150611"/>
                </a:cubicBezTo>
                <a:cubicBezTo>
                  <a:pt x="110120" y="156414"/>
                  <a:pt x="97922" y="159721"/>
                  <a:pt x="84976" y="159721"/>
                </a:cubicBezTo>
                <a:cubicBezTo>
                  <a:pt x="43642" y="159721"/>
                  <a:pt x="10107" y="126185"/>
                  <a:pt x="10107" y="84852"/>
                </a:cubicBezTo>
                <a:cubicBezTo>
                  <a:pt x="10107" y="48821"/>
                  <a:pt x="35532" y="18748"/>
                  <a:pt x="69441" y="11605"/>
                </a:cubicBezTo>
                <a:close/>
                <a:moveTo>
                  <a:pt x="149052" y="89843"/>
                </a:moveTo>
                <a:lnTo>
                  <a:pt x="169017" y="89843"/>
                </a:lnTo>
                <a:cubicBezTo>
                  <a:pt x="174788" y="89843"/>
                  <a:pt x="179405" y="94740"/>
                  <a:pt x="178219" y="100387"/>
                </a:cubicBezTo>
                <a:cubicBezTo>
                  <a:pt x="175037" y="115485"/>
                  <a:pt x="167301" y="128899"/>
                  <a:pt x="156507" y="139132"/>
                </a:cubicBezTo>
                <a:cubicBezTo>
                  <a:pt x="152670" y="142781"/>
                  <a:pt x="146650" y="142002"/>
                  <a:pt x="143281" y="137915"/>
                </a:cubicBezTo>
                <a:lnTo>
                  <a:pt x="116952" y="106189"/>
                </a:lnTo>
                <a:cubicBezTo>
                  <a:pt x="111555" y="99669"/>
                  <a:pt x="116203" y="89843"/>
                  <a:pt x="124626" y="89843"/>
                </a:cubicBezTo>
                <a:lnTo>
                  <a:pt x="149020" y="8984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6993180" y="2457921"/>
            <a:ext cx="464076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ROI on Training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3180" y="2741869"/>
            <a:ext cx="462302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L&amp;D spending doesn't translate to skill development or performance improvement.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6272" y="3416245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96097" y="3513852"/>
            <a:ext cx="159721" cy="159721"/>
          </a:xfrm>
          <a:custGeom>
            <a:avLst/>
            <a:gdLst/>
            <a:ahLst/>
            <a:cxnLst/>
            <a:rect l="l" t="t" r="r" b="b"/>
            <a:pathLst>
              <a:path w="159721" h="159721">
                <a:moveTo>
                  <a:pt x="69878" y="0"/>
                </a:moveTo>
                <a:cubicBezTo>
                  <a:pt x="80890" y="0"/>
                  <a:pt x="89843" y="6707"/>
                  <a:pt x="89843" y="14974"/>
                </a:cubicBezTo>
                <a:cubicBezTo>
                  <a:pt x="89843" y="18218"/>
                  <a:pt x="88470" y="21213"/>
                  <a:pt x="86099" y="23677"/>
                </a:cubicBezTo>
                <a:cubicBezTo>
                  <a:pt x="84040" y="25830"/>
                  <a:pt x="82356" y="28450"/>
                  <a:pt x="82356" y="31445"/>
                </a:cubicBezTo>
                <a:cubicBezTo>
                  <a:pt x="82356" y="36124"/>
                  <a:pt x="86162" y="39930"/>
                  <a:pt x="90841" y="39930"/>
                </a:cubicBezTo>
                <a:lnTo>
                  <a:pt x="104817" y="39930"/>
                </a:lnTo>
                <a:cubicBezTo>
                  <a:pt x="113083" y="39930"/>
                  <a:pt x="119790" y="46637"/>
                  <a:pt x="119790" y="54904"/>
                </a:cubicBezTo>
                <a:lnTo>
                  <a:pt x="119790" y="68879"/>
                </a:lnTo>
                <a:cubicBezTo>
                  <a:pt x="119790" y="73559"/>
                  <a:pt x="123596" y="77365"/>
                  <a:pt x="128276" y="77365"/>
                </a:cubicBezTo>
                <a:cubicBezTo>
                  <a:pt x="131239" y="77365"/>
                  <a:pt x="133891" y="75680"/>
                  <a:pt x="136043" y="73621"/>
                </a:cubicBezTo>
                <a:cubicBezTo>
                  <a:pt x="138508" y="71282"/>
                  <a:pt x="141502" y="69878"/>
                  <a:pt x="144747" y="69878"/>
                </a:cubicBezTo>
                <a:cubicBezTo>
                  <a:pt x="153014" y="69878"/>
                  <a:pt x="159721" y="78831"/>
                  <a:pt x="159721" y="89843"/>
                </a:cubicBezTo>
                <a:cubicBezTo>
                  <a:pt x="159721" y="100855"/>
                  <a:pt x="153014" y="109808"/>
                  <a:pt x="144747" y="109808"/>
                </a:cubicBezTo>
                <a:cubicBezTo>
                  <a:pt x="141502" y="109808"/>
                  <a:pt x="138476" y="108435"/>
                  <a:pt x="136043" y="106064"/>
                </a:cubicBezTo>
                <a:cubicBezTo>
                  <a:pt x="133891" y="104006"/>
                  <a:pt x="131270" y="102321"/>
                  <a:pt x="128276" y="102321"/>
                </a:cubicBezTo>
                <a:cubicBezTo>
                  <a:pt x="123596" y="102321"/>
                  <a:pt x="119790" y="106127"/>
                  <a:pt x="119790" y="110806"/>
                </a:cubicBezTo>
                <a:lnTo>
                  <a:pt x="119790" y="144747"/>
                </a:lnTo>
                <a:cubicBezTo>
                  <a:pt x="119790" y="153014"/>
                  <a:pt x="113083" y="159721"/>
                  <a:pt x="104817" y="159721"/>
                </a:cubicBezTo>
                <a:lnTo>
                  <a:pt x="87098" y="159721"/>
                </a:lnTo>
                <a:cubicBezTo>
                  <a:pt x="83105" y="159721"/>
                  <a:pt x="79860" y="156476"/>
                  <a:pt x="79860" y="152483"/>
                </a:cubicBezTo>
                <a:cubicBezTo>
                  <a:pt x="79860" y="149613"/>
                  <a:pt x="81670" y="147086"/>
                  <a:pt x="83978" y="145371"/>
                </a:cubicBezTo>
                <a:cubicBezTo>
                  <a:pt x="87597" y="142657"/>
                  <a:pt x="89843" y="138913"/>
                  <a:pt x="89843" y="134764"/>
                </a:cubicBezTo>
                <a:cubicBezTo>
                  <a:pt x="89843" y="126497"/>
                  <a:pt x="80890" y="119790"/>
                  <a:pt x="69878" y="119790"/>
                </a:cubicBezTo>
                <a:cubicBezTo>
                  <a:pt x="58866" y="119790"/>
                  <a:pt x="49913" y="126497"/>
                  <a:pt x="49913" y="134764"/>
                </a:cubicBezTo>
                <a:cubicBezTo>
                  <a:pt x="49913" y="138913"/>
                  <a:pt x="52159" y="142657"/>
                  <a:pt x="55777" y="145371"/>
                </a:cubicBezTo>
                <a:cubicBezTo>
                  <a:pt x="58086" y="147086"/>
                  <a:pt x="59895" y="149582"/>
                  <a:pt x="59895" y="152483"/>
                </a:cubicBezTo>
                <a:cubicBezTo>
                  <a:pt x="59895" y="156476"/>
                  <a:pt x="56651" y="159721"/>
                  <a:pt x="52658" y="159721"/>
                </a:cubicBezTo>
                <a:lnTo>
                  <a:pt x="14974" y="159721"/>
                </a:lnTo>
                <a:cubicBezTo>
                  <a:pt x="6707" y="159721"/>
                  <a:pt x="0" y="153014"/>
                  <a:pt x="0" y="144747"/>
                </a:cubicBezTo>
                <a:lnTo>
                  <a:pt x="0" y="107063"/>
                </a:lnTo>
                <a:cubicBezTo>
                  <a:pt x="0" y="103070"/>
                  <a:pt x="3244" y="99825"/>
                  <a:pt x="7237" y="99825"/>
                </a:cubicBezTo>
                <a:cubicBezTo>
                  <a:pt x="10107" y="99825"/>
                  <a:pt x="12634" y="101635"/>
                  <a:pt x="14350" y="103943"/>
                </a:cubicBezTo>
                <a:cubicBezTo>
                  <a:pt x="17064" y="107562"/>
                  <a:pt x="20807" y="109808"/>
                  <a:pt x="24956" y="109808"/>
                </a:cubicBezTo>
                <a:cubicBezTo>
                  <a:pt x="33223" y="109808"/>
                  <a:pt x="39930" y="100855"/>
                  <a:pt x="39930" y="89843"/>
                </a:cubicBezTo>
                <a:cubicBezTo>
                  <a:pt x="39930" y="78831"/>
                  <a:pt x="33223" y="69878"/>
                  <a:pt x="24956" y="69878"/>
                </a:cubicBezTo>
                <a:cubicBezTo>
                  <a:pt x="20807" y="69878"/>
                  <a:pt x="17064" y="72124"/>
                  <a:pt x="14350" y="75742"/>
                </a:cubicBezTo>
                <a:cubicBezTo>
                  <a:pt x="12634" y="78051"/>
                  <a:pt x="10139" y="79860"/>
                  <a:pt x="7237" y="79860"/>
                </a:cubicBezTo>
                <a:cubicBezTo>
                  <a:pt x="3244" y="79860"/>
                  <a:pt x="0" y="76616"/>
                  <a:pt x="0" y="72623"/>
                </a:cubicBezTo>
                <a:lnTo>
                  <a:pt x="0" y="54904"/>
                </a:lnTo>
                <a:cubicBezTo>
                  <a:pt x="0" y="46637"/>
                  <a:pt x="6707" y="39930"/>
                  <a:pt x="14974" y="39930"/>
                </a:cubicBezTo>
                <a:lnTo>
                  <a:pt x="48914" y="39930"/>
                </a:lnTo>
                <a:cubicBezTo>
                  <a:pt x="53594" y="39930"/>
                  <a:pt x="57400" y="36124"/>
                  <a:pt x="57400" y="31445"/>
                </a:cubicBezTo>
                <a:cubicBezTo>
                  <a:pt x="57400" y="28481"/>
                  <a:pt x="55715" y="25830"/>
                  <a:pt x="53656" y="23677"/>
                </a:cubicBezTo>
                <a:cubicBezTo>
                  <a:pt x="51316" y="21213"/>
                  <a:pt x="49913" y="18218"/>
                  <a:pt x="49913" y="14974"/>
                </a:cubicBezTo>
                <a:cubicBezTo>
                  <a:pt x="49913" y="6707"/>
                  <a:pt x="58866" y="0"/>
                  <a:pt x="6987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2" name="Text 30"/>
          <p:cNvSpPr/>
          <p:nvPr/>
        </p:nvSpPr>
        <p:spPr>
          <a:xfrm>
            <a:off x="6993180" y="3380751"/>
            <a:ext cx="464076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Skill Gaps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93180" y="3664699"/>
            <a:ext cx="462302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Employees remain unskilled despite training investments, affecting productivity.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96272" y="4339074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86115" y="4436681"/>
            <a:ext cx="179686" cy="159721"/>
          </a:xfrm>
          <a:custGeom>
            <a:avLst/>
            <a:gdLst/>
            <a:ahLst/>
            <a:cxnLst/>
            <a:rect l="l" t="t" r="r" b="b"/>
            <a:pathLst>
              <a:path w="179686" h="159721">
                <a:moveTo>
                  <a:pt x="12790" y="-7768"/>
                </a:moveTo>
                <a:cubicBezTo>
                  <a:pt x="9858" y="-10700"/>
                  <a:pt x="5116" y="-10700"/>
                  <a:pt x="2215" y="-7768"/>
                </a:cubicBezTo>
                <a:cubicBezTo>
                  <a:pt x="-686" y="-4835"/>
                  <a:pt x="-717" y="-94"/>
                  <a:pt x="2184" y="2839"/>
                </a:cubicBezTo>
                <a:lnTo>
                  <a:pt x="166895" y="167551"/>
                </a:lnTo>
                <a:cubicBezTo>
                  <a:pt x="169828" y="170483"/>
                  <a:pt x="174570" y="170483"/>
                  <a:pt x="177471" y="167551"/>
                </a:cubicBezTo>
                <a:cubicBezTo>
                  <a:pt x="180372" y="164618"/>
                  <a:pt x="180403" y="159877"/>
                  <a:pt x="177471" y="156975"/>
                </a:cubicBezTo>
                <a:lnTo>
                  <a:pt x="147398" y="126903"/>
                </a:lnTo>
                <a:cubicBezTo>
                  <a:pt x="148241" y="126154"/>
                  <a:pt x="149083" y="125406"/>
                  <a:pt x="149894" y="124657"/>
                </a:cubicBezTo>
                <a:cubicBezTo>
                  <a:pt x="164493" y="111087"/>
                  <a:pt x="174258" y="94896"/>
                  <a:pt x="178906" y="83760"/>
                </a:cubicBezTo>
                <a:cubicBezTo>
                  <a:pt x="179935" y="81295"/>
                  <a:pt x="179935" y="78550"/>
                  <a:pt x="178906" y="76086"/>
                </a:cubicBezTo>
                <a:cubicBezTo>
                  <a:pt x="174258" y="64949"/>
                  <a:pt x="164493" y="48727"/>
                  <a:pt x="149894" y="35188"/>
                </a:cubicBezTo>
                <a:cubicBezTo>
                  <a:pt x="135201" y="21556"/>
                  <a:pt x="115017" y="10045"/>
                  <a:pt x="89812" y="10045"/>
                </a:cubicBezTo>
                <a:cubicBezTo>
                  <a:pt x="72093" y="10045"/>
                  <a:pt x="56869" y="15722"/>
                  <a:pt x="44266" y="23833"/>
                </a:cubicBezTo>
                <a:lnTo>
                  <a:pt x="12790" y="-7768"/>
                </a:lnTo>
                <a:close/>
                <a:moveTo>
                  <a:pt x="63795" y="43268"/>
                </a:moveTo>
                <a:cubicBezTo>
                  <a:pt x="71126" y="38027"/>
                  <a:pt x="80141" y="34939"/>
                  <a:pt x="89843" y="34939"/>
                </a:cubicBezTo>
                <a:cubicBezTo>
                  <a:pt x="114643" y="34939"/>
                  <a:pt x="134764" y="55060"/>
                  <a:pt x="134764" y="79860"/>
                </a:cubicBezTo>
                <a:cubicBezTo>
                  <a:pt x="134764" y="89562"/>
                  <a:pt x="131676" y="98546"/>
                  <a:pt x="126435" y="105908"/>
                </a:cubicBezTo>
                <a:lnTo>
                  <a:pt x="115610" y="95084"/>
                </a:lnTo>
                <a:cubicBezTo>
                  <a:pt x="119572" y="88408"/>
                  <a:pt x="120913" y="80203"/>
                  <a:pt x="118761" y="72093"/>
                </a:cubicBezTo>
                <a:cubicBezTo>
                  <a:pt x="114487" y="56121"/>
                  <a:pt x="98047" y="46637"/>
                  <a:pt x="82075" y="50911"/>
                </a:cubicBezTo>
                <a:cubicBezTo>
                  <a:pt x="79392" y="51628"/>
                  <a:pt x="76866" y="52689"/>
                  <a:pt x="74588" y="54030"/>
                </a:cubicBezTo>
                <a:lnTo>
                  <a:pt x="63763" y="43206"/>
                </a:lnTo>
                <a:close/>
                <a:moveTo>
                  <a:pt x="101479" y="123253"/>
                </a:moveTo>
                <a:cubicBezTo>
                  <a:pt x="97766" y="124251"/>
                  <a:pt x="93867" y="124782"/>
                  <a:pt x="89843" y="124782"/>
                </a:cubicBezTo>
                <a:cubicBezTo>
                  <a:pt x="65042" y="124782"/>
                  <a:pt x="44921" y="104661"/>
                  <a:pt x="44921" y="79860"/>
                </a:cubicBezTo>
                <a:cubicBezTo>
                  <a:pt x="44921" y="75836"/>
                  <a:pt x="45452" y="71937"/>
                  <a:pt x="46450" y="68224"/>
                </a:cubicBezTo>
                <a:lnTo>
                  <a:pt x="21650" y="43424"/>
                </a:lnTo>
                <a:cubicBezTo>
                  <a:pt x="11480" y="54904"/>
                  <a:pt x="4492" y="67070"/>
                  <a:pt x="780" y="76023"/>
                </a:cubicBezTo>
                <a:cubicBezTo>
                  <a:pt x="-250" y="78488"/>
                  <a:pt x="-250" y="81233"/>
                  <a:pt x="780" y="83697"/>
                </a:cubicBezTo>
                <a:cubicBezTo>
                  <a:pt x="5428" y="94834"/>
                  <a:pt x="15192" y="111056"/>
                  <a:pt x="29792" y="124594"/>
                </a:cubicBezTo>
                <a:cubicBezTo>
                  <a:pt x="44485" y="138227"/>
                  <a:pt x="64668" y="149738"/>
                  <a:pt x="89874" y="149738"/>
                </a:cubicBezTo>
                <a:cubicBezTo>
                  <a:pt x="101510" y="149738"/>
                  <a:pt x="112085" y="147274"/>
                  <a:pt x="121537" y="143312"/>
                </a:cubicBezTo>
                <a:lnTo>
                  <a:pt x="101510" y="12328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6" name="Text 34"/>
          <p:cNvSpPr/>
          <p:nvPr/>
        </p:nvSpPr>
        <p:spPr>
          <a:xfrm>
            <a:off x="6993180" y="4303581"/>
            <a:ext cx="4640769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3180" y="4587528"/>
            <a:ext cx="4623022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HR teams can't track who completed what or measure learning effectiveness.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96272" y="5266341"/>
            <a:ext cx="5048943" cy="8873"/>
          </a:xfrm>
          <a:custGeom>
            <a:avLst/>
            <a:gdLst/>
            <a:ahLst/>
            <a:cxnLst/>
            <a:rect l="l" t="t" r="r" b="b"/>
            <a:pathLst>
              <a:path w="5048943" h="8873">
                <a:moveTo>
                  <a:pt x="0" y="0"/>
                </a:moveTo>
                <a:lnTo>
                  <a:pt x="5048943" y="0"/>
                </a:lnTo>
                <a:lnTo>
                  <a:pt x="5048943" y="8873"/>
                </a:lnTo>
                <a:lnTo>
                  <a:pt x="0" y="8873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96272" y="5448245"/>
            <a:ext cx="5119930" cy="42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Loss:</a:t>
            </a:r>
            <a:pPr>
              <a:lnSpc>
                <a:spcPct val="130000"/>
              </a:lnSpc>
            </a:pPr>
            <a:r>
              <a:rPr lang="en-US" sz="1118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Wasted training budgets, unproductive workforce, talent retention issues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59371" y="6313397"/>
            <a:ext cx="11473258" cy="541275"/>
          </a:xfrm>
          <a:custGeom>
            <a:avLst/>
            <a:gdLst/>
            <a:ahLst/>
            <a:cxnLst/>
            <a:rect l="l" t="t" r="r" b="b"/>
            <a:pathLst>
              <a:path w="11473258" h="541275">
                <a:moveTo>
                  <a:pt x="106480" y="0"/>
                </a:moveTo>
                <a:lnTo>
                  <a:pt x="11366778" y="0"/>
                </a:lnTo>
                <a:cubicBezTo>
                  <a:pt x="11425585" y="0"/>
                  <a:pt x="11473258" y="47673"/>
                  <a:pt x="11473258" y="106480"/>
                </a:cubicBezTo>
                <a:lnTo>
                  <a:pt x="11473258" y="434795"/>
                </a:lnTo>
                <a:cubicBezTo>
                  <a:pt x="11473258" y="493603"/>
                  <a:pt x="11425585" y="541275"/>
                  <a:pt x="11366778" y="541275"/>
                </a:cubicBezTo>
                <a:lnTo>
                  <a:pt x="106480" y="541275"/>
                </a:lnTo>
                <a:cubicBezTo>
                  <a:pt x="47712" y="541275"/>
                  <a:pt x="0" y="493563"/>
                  <a:pt x="0" y="434795"/>
                </a:cubicBezTo>
                <a:lnTo>
                  <a:pt x="0" y="106480"/>
                </a:lnTo>
                <a:cubicBezTo>
                  <a:pt x="0" y="47712"/>
                  <a:pt x="47712" y="0"/>
                  <a:pt x="106480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2700">
            <a:solidFill>
              <a:srgbClr val="E9C46A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415" y="6459808"/>
            <a:ext cx="11269170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segments suffer from the same root cause: </a:t>
            </a:r>
            <a:pPr algn="ctr">
              <a:lnSpc>
                <a:spcPct val="120000"/>
              </a:lnSpc>
            </a:pPr>
            <a:r>
              <a:rPr lang="en-US" sz="139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accountability mechanism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media.istockphoto.com/id/2204897192/photo/abstract-architectural-detail-dark-blue-linear-convergence-with-geometric-precision.jpg?b=1&amp;s=612x612&amp;w=0&amp;k=20&amp;c=psMVRT8qEDlwzbmWRHkyFDMHQlNRNX-UFnPEaD--79I=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099" b="309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3D8F8A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Turn Learning Into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Outcomes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2062163"/>
            <a:ext cx="3648075" cy="3990975"/>
          </a:xfrm>
          <a:custGeom>
            <a:avLst/>
            <a:gdLst/>
            <a:ahLst/>
            <a:cxnLst/>
            <a:rect l="l" t="t" r="r" b="b"/>
            <a:pathLst>
              <a:path w="3648075" h="39909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838558"/>
                </a:lnTo>
                <a:cubicBezTo>
                  <a:pt x="3648075" y="3922736"/>
                  <a:pt x="3579836" y="3990975"/>
                  <a:pt x="3495658" y="3990975"/>
                </a:cubicBezTo>
                <a:lnTo>
                  <a:pt x="152417" y="3990975"/>
                </a:lnTo>
                <a:cubicBezTo>
                  <a:pt x="68296" y="3990975"/>
                  <a:pt x="0" y="3922679"/>
                  <a:pt x="0" y="38385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125" y="2295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5572" y="24574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-8930"/>
                </a:moveTo>
                <a:cubicBezTo>
                  <a:pt x="170613" y="-8930"/>
                  <a:pt x="178594" y="-949"/>
                  <a:pt x="178594" y="8930"/>
                </a:cubicBezTo>
                <a:lnTo>
                  <a:pt x="178594" y="19143"/>
                </a:lnTo>
                <a:cubicBezTo>
                  <a:pt x="233344" y="26956"/>
                  <a:pt x="276653" y="70265"/>
                  <a:pt x="284466" y="125016"/>
                </a:cubicBezTo>
                <a:lnTo>
                  <a:pt x="294680" y="125016"/>
                </a:lnTo>
                <a:cubicBezTo>
                  <a:pt x="304558" y="125016"/>
                  <a:pt x="312539" y="132997"/>
                  <a:pt x="312539" y="142875"/>
                </a:cubicBezTo>
                <a:cubicBezTo>
                  <a:pt x="312539" y="152753"/>
                  <a:pt x="304558" y="160734"/>
                  <a:pt x="294680" y="160734"/>
                </a:cubicBezTo>
                <a:lnTo>
                  <a:pt x="284466" y="160734"/>
                </a:lnTo>
                <a:cubicBezTo>
                  <a:pt x="276653" y="215485"/>
                  <a:pt x="233344" y="258794"/>
                  <a:pt x="178594" y="266607"/>
                </a:cubicBezTo>
                <a:lnTo>
                  <a:pt x="178594" y="276820"/>
                </a:lnTo>
                <a:cubicBezTo>
                  <a:pt x="178594" y="286699"/>
                  <a:pt x="170613" y="294680"/>
                  <a:pt x="160734" y="294680"/>
                </a:cubicBezTo>
                <a:cubicBezTo>
                  <a:pt x="150856" y="294680"/>
                  <a:pt x="142875" y="286699"/>
                  <a:pt x="142875" y="276820"/>
                </a:cubicBezTo>
                <a:lnTo>
                  <a:pt x="142875" y="266607"/>
                </a:lnTo>
                <a:cubicBezTo>
                  <a:pt x="88125" y="258794"/>
                  <a:pt x="44816" y="215485"/>
                  <a:pt x="37002" y="160734"/>
                </a:cubicBezTo>
                <a:lnTo>
                  <a:pt x="26789" y="160734"/>
                </a:lnTo>
                <a:cubicBezTo>
                  <a:pt x="16911" y="160734"/>
                  <a:pt x="8930" y="152753"/>
                  <a:pt x="8930" y="142875"/>
                </a:cubicBezTo>
                <a:cubicBezTo>
                  <a:pt x="8930" y="132997"/>
                  <a:pt x="16911" y="125016"/>
                  <a:pt x="26789" y="125016"/>
                </a:cubicBezTo>
                <a:lnTo>
                  <a:pt x="37002" y="125016"/>
                </a:lnTo>
                <a:cubicBezTo>
                  <a:pt x="44816" y="70265"/>
                  <a:pt x="88125" y="26956"/>
                  <a:pt x="142875" y="19143"/>
                </a:cubicBezTo>
                <a:lnTo>
                  <a:pt x="142875" y="8930"/>
                </a:lnTo>
                <a:cubicBezTo>
                  <a:pt x="142875" y="-949"/>
                  <a:pt x="150856" y="-8930"/>
                  <a:pt x="160734" y="-8930"/>
                </a:cubicBezTo>
                <a:close/>
                <a:moveTo>
                  <a:pt x="73223" y="160734"/>
                </a:moveTo>
                <a:cubicBezTo>
                  <a:pt x="80311" y="195728"/>
                  <a:pt x="107882" y="223298"/>
                  <a:pt x="142875" y="230386"/>
                </a:cubicBezTo>
                <a:lnTo>
                  <a:pt x="142875" y="223242"/>
                </a:lnTo>
                <a:cubicBezTo>
                  <a:pt x="142875" y="213364"/>
                  <a:pt x="150856" y="205383"/>
                  <a:pt x="160734" y="205383"/>
                </a:cubicBezTo>
                <a:cubicBezTo>
                  <a:pt x="170613" y="205383"/>
                  <a:pt x="178594" y="213364"/>
                  <a:pt x="178594" y="223242"/>
                </a:cubicBezTo>
                <a:lnTo>
                  <a:pt x="178594" y="230386"/>
                </a:lnTo>
                <a:cubicBezTo>
                  <a:pt x="213587" y="223298"/>
                  <a:pt x="241157" y="195728"/>
                  <a:pt x="248245" y="160734"/>
                </a:cubicBezTo>
                <a:lnTo>
                  <a:pt x="241102" y="160734"/>
                </a:lnTo>
                <a:cubicBezTo>
                  <a:pt x="231223" y="160734"/>
                  <a:pt x="223242" y="152753"/>
                  <a:pt x="223242" y="142875"/>
                </a:cubicBezTo>
                <a:cubicBezTo>
                  <a:pt x="223242" y="132997"/>
                  <a:pt x="231223" y="125016"/>
                  <a:pt x="241102" y="125016"/>
                </a:cubicBezTo>
                <a:lnTo>
                  <a:pt x="248245" y="125016"/>
                </a:lnTo>
                <a:cubicBezTo>
                  <a:pt x="241157" y="90022"/>
                  <a:pt x="213587" y="62452"/>
                  <a:pt x="178594" y="55364"/>
                </a:cubicBezTo>
                <a:lnTo>
                  <a:pt x="178594" y="62508"/>
                </a:lnTo>
                <a:cubicBezTo>
                  <a:pt x="178594" y="72386"/>
                  <a:pt x="170613" y="80367"/>
                  <a:pt x="160734" y="80367"/>
                </a:cubicBezTo>
                <a:cubicBezTo>
                  <a:pt x="150856" y="80367"/>
                  <a:pt x="142875" y="72386"/>
                  <a:pt x="142875" y="62508"/>
                </a:cubicBezTo>
                <a:lnTo>
                  <a:pt x="142875" y="55364"/>
                </a:lnTo>
                <a:cubicBezTo>
                  <a:pt x="107882" y="62452"/>
                  <a:pt x="80311" y="90022"/>
                  <a:pt x="73223" y="125016"/>
                </a:cubicBezTo>
                <a:lnTo>
                  <a:pt x="80367" y="125016"/>
                </a:lnTo>
                <a:cubicBezTo>
                  <a:pt x="90246" y="125016"/>
                  <a:pt x="98227" y="132997"/>
                  <a:pt x="98227" y="142875"/>
                </a:cubicBezTo>
                <a:cubicBezTo>
                  <a:pt x="98227" y="152753"/>
                  <a:pt x="90246" y="160734"/>
                  <a:pt x="80367" y="160734"/>
                </a:cubicBezTo>
                <a:lnTo>
                  <a:pt x="73223" y="160734"/>
                </a:lnTo>
                <a:close/>
                <a:moveTo>
                  <a:pt x="160734" y="116086"/>
                </a:moveTo>
                <a:cubicBezTo>
                  <a:pt x="175520" y="116086"/>
                  <a:pt x="187523" y="128090"/>
                  <a:pt x="187523" y="142875"/>
                </a:cubicBezTo>
                <a:cubicBezTo>
                  <a:pt x="187523" y="157660"/>
                  <a:pt x="175520" y="169664"/>
                  <a:pt x="160734" y="169664"/>
                </a:cubicBezTo>
                <a:cubicBezTo>
                  <a:pt x="145949" y="169664"/>
                  <a:pt x="133945" y="157660"/>
                  <a:pt x="133945" y="142875"/>
                </a:cubicBezTo>
                <a:cubicBezTo>
                  <a:pt x="133945" y="128090"/>
                  <a:pt x="145949" y="116086"/>
                  <a:pt x="160734" y="11608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6"/>
          <p:cNvSpPr/>
          <p:nvPr/>
        </p:nvSpPr>
        <p:spPr>
          <a:xfrm>
            <a:off x="619125" y="3095625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Real Effort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19125" y="3552825"/>
            <a:ext cx="3267075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actual engagement, not just login timestamps. We verify time spent, consistency, and real learning behavior.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8175" y="5629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885825" y="559117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 tracking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1963" y="2062163"/>
            <a:ext cx="3648075" cy="3990975"/>
          </a:xfrm>
          <a:custGeom>
            <a:avLst/>
            <a:gdLst/>
            <a:ahLst/>
            <a:cxnLst/>
            <a:rect l="l" t="t" r="r" b="b"/>
            <a:pathLst>
              <a:path w="3648075" h="39909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838558"/>
                </a:lnTo>
                <a:cubicBezTo>
                  <a:pt x="3648075" y="3922736"/>
                  <a:pt x="3579836" y="3990975"/>
                  <a:pt x="3495658" y="3990975"/>
                </a:cubicBezTo>
                <a:lnTo>
                  <a:pt x="152417" y="3990975"/>
                </a:lnTo>
                <a:cubicBezTo>
                  <a:pt x="68296" y="3990975"/>
                  <a:pt x="0" y="3922679"/>
                  <a:pt x="0" y="38385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5325" y="2295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69631" y="2457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6" name="Text 13"/>
          <p:cNvSpPr/>
          <p:nvPr/>
        </p:nvSpPr>
        <p:spPr>
          <a:xfrm>
            <a:off x="4505325" y="3095625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Consistency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05325" y="3552825"/>
            <a:ext cx="3267075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incentives and gamification keep learners engaged. Rewards for streaks, milestones, and completion.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24375" y="5629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9" name="Text 16"/>
          <p:cNvSpPr/>
          <p:nvPr/>
        </p:nvSpPr>
        <p:spPr>
          <a:xfrm>
            <a:off x="4772025" y="559117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Sustained motivation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58163" y="2062163"/>
            <a:ext cx="3648075" cy="3990975"/>
          </a:xfrm>
          <a:custGeom>
            <a:avLst/>
            <a:gdLst/>
            <a:ahLst/>
            <a:cxnLst/>
            <a:rect l="l" t="t" r="r" b="b"/>
            <a:pathLst>
              <a:path w="3648075" h="3990975">
                <a:moveTo>
                  <a:pt x="152417" y="0"/>
                </a:moveTo>
                <a:lnTo>
                  <a:pt x="3495658" y="0"/>
                </a:lnTo>
                <a:cubicBezTo>
                  <a:pt x="3579779" y="0"/>
                  <a:pt x="3648075" y="68296"/>
                  <a:pt x="3648075" y="152417"/>
                </a:cubicBezTo>
                <a:lnTo>
                  <a:pt x="3648075" y="3838558"/>
                </a:lnTo>
                <a:cubicBezTo>
                  <a:pt x="3648075" y="3922736"/>
                  <a:pt x="3579836" y="3990975"/>
                  <a:pt x="3495658" y="3990975"/>
                </a:cubicBezTo>
                <a:lnTo>
                  <a:pt x="152417" y="3990975"/>
                </a:lnTo>
                <a:cubicBezTo>
                  <a:pt x="68296" y="3990975"/>
                  <a:pt x="0" y="3922679"/>
                  <a:pt x="0" y="3838558"/>
                </a:cubicBezTo>
                <a:lnTo>
                  <a:pt x="0" y="152417"/>
                </a:lnTo>
                <a:cubicBezTo>
                  <a:pt x="0" y="68296"/>
                  <a:pt x="68296" y="0"/>
                  <a:pt x="15241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91525" y="2295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555831" y="24574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0"/>
          <p:cNvSpPr/>
          <p:nvPr/>
        </p:nvSpPr>
        <p:spPr>
          <a:xfrm>
            <a:off x="8391525" y="3095625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Analytics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91525" y="3552825"/>
            <a:ext cx="3267075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dashboards for institutions. Track completion rates, skill development, and ROI in real-time.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410575" y="5629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3"/>
          <p:cNvSpPr/>
          <p:nvPr/>
        </p:nvSpPr>
        <p:spPr>
          <a:xfrm>
            <a:off x="8658225" y="559117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136404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5"/>
          <p:cNvSpPr/>
          <p:nvPr/>
        </p:nvSpPr>
        <p:spPr>
          <a:xfrm>
            <a:off x="3365004" y="6210300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Effort Verification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956423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0" name="Text 27"/>
          <p:cNvSpPr/>
          <p:nvPr/>
        </p:nvSpPr>
        <p:spPr>
          <a:xfrm>
            <a:off x="5185023" y="62103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Incentive Engineering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070303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2" name="Text 29"/>
          <p:cNvSpPr/>
          <p:nvPr/>
        </p:nvSpPr>
        <p:spPr>
          <a:xfrm>
            <a:off x="7298903" y="621030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 Measurement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Track. Motivate. Measure.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complete learning accountability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6791325" cy="5095875"/>
          </a:xfrm>
          <a:custGeom>
            <a:avLst/>
            <a:gdLst/>
            <a:ahLst/>
            <a:cxnLst/>
            <a:rect l="l" t="t" r="r" b="b"/>
            <a:pathLst>
              <a:path w="6791325" h="5095875">
                <a:moveTo>
                  <a:pt x="152418" y="0"/>
                </a:moveTo>
                <a:lnTo>
                  <a:pt x="6638907" y="0"/>
                </a:lnTo>
                <a:cubicBezTo>
                  <a:pt x="6723085" y="0"/>
                  <a:pt x="6791325" y="68240"/>
                  <a:pt x="6791325" y="152418"/>
                </a:cubicBezTo>
                <a:lnTo>
                  <a:pt x="6791325" y="4943457"/>
                </a:lnTo>
                <a:cubicBezTo>
                  <a:pt x="6791325" y="5027635"/>
                  <a:pt x="6723085" y="5095875"/>
                  <a:pt x="6638907" y="5095875"/>
                </a:cubicBezTo>
                <a:lnTo>
                  <a:pt x="152418" y="5095875"/>
                </a:lnTo>
                <a:cubicBezTo>
                  <a:pt x="68240" y="5095875"/>
                  <a:pt x="0" y="5027635"/>
                  <a:pt x="0" y="4943457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solidFill>
            <a:srgbClr val="2A3238"/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pic>
        <p:nvPicPr>
          <p:cNvPr id="6" name="Image 0" descr="https://cdn.dribbble.com/userupload/45212112/file/6447d74773810369caa861dd2e418f27.png?crop=1147x75-3385x1753&amp;format=webp&amp;resize=400x300&amp;vertical=cent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0525" y="1647825"/>
            <a:ext cx="6781800" cy="5086350"/>
          </a:xfrm>
          <a:prstGeom prst="roundRect">
            <a:avLst>
              <a:gd name="adj" fmla="val 2996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35143" y="1643063"/>
            <a:ext cx="4467225" cy="1590675"/>
          </a:xfrm>
          <a:custGeom>
            <a:avLst/>
            <a:gdLst/>
            <a:ahLst/>
            <a:cxnLst/>
            <a:rect l="l" t="t" r="r" b="b"/>
            <a:pathLst>
              <a:path w="4467225" h="1590675">
                <a:moveTo>
                  <a:pt x="152403" y="0"/>
                </a:moveTo>
                <a:lnTo>
                  <a:pt x="4314822" y="0"/>
                </a:lnTo>
                <a:cubicBezTo>
                  <a:pt x="4398936" y="0"/>
                  <a:pt x="4467225" y="68289"/>
                  <a:pt x="4467225" y="152403"/>
                </a:cubicBezTo>
                <a:lnTo>
                  <a:pt x="4467225" y="1438272"/>
                </a:lnTo>
                <a:cubicBezTo>
                  <a:pt x="4467225" y="1522386"/>
                  <a:pt x="4398936" y="1590675"/>
                  <a:pt x="4314822" y="1590675"/>
                </a:cubicBezTo>
                <a:lnTo>
                  <a:pt x="152403" y="1590675"/>
                </a:lnTo>
                <a:cubicBezTo>
                  <a:pt x="68289" y="1590675"/>
                  <a:pt x="0" y="1522386"/>
                  <a:pt x="0" y="14382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30000"/>
                </a:srgbClr>
              </a:gs>
              <a:gs pos="100000">
                <a:srgbClr val="3D8F8A">
                  <a:alpha val="10000"/>
                </a:srgbClr>
              </a:gs>
            </a:gsLst>
            <a:lin ang="2700000" scaled="1"/>
          </a:gra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30405" y="19044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44705" y="201877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7"/>
          <p:cNvSpPr/>
          <p:nvPr/>
        </p:nvSpPr>
        <p:spPr>
          <a:xfrm>
            <a:off x="8101905" y="1980679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30405" y="2475979"/>
            <a:ext cx="415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analytics on learning progress, engagement patterns, and completion forecasts.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35143" y="3394695"/>
            <a:ext cx="4467225" cy="1590675"/>
          </a:xfrm>
          <a:custGeom>
            <a:avLst/>
            <a:gdLst/>
            <a:ahLst/>
            <a:cxnLst/>
            <a:rect l="l" t="t" r="r" b="b"/>
            <a:pathLst>
              <a:path w="4467225" h="1590675">
                <a:moveTo>
                  <a:pt x="152403" y="0"/>
                </a:moveTo>
                <a:lnTo>
                  <a:pt x="4314822" y="0"/>
                </a:lnTo>
                <a:cubicBezTo>
                  <a:pt x="4398936" y="0"/>
                  <a:pt x="4467225" y="68289"/>
                  <a:pt x="4467225" y="152403"/>
                </a:cubicBezTo>
                <a:lnTo>
                  <a:pt x="4467225" y="1438272"/>
                </a:lnTo>
                <a:cubicBezTo>
                  <a:pt x="4467225" y="1522386"/>
                  <a:pt x="4398936" y="1590675"/>
                  <a:pt x="4314822" y="1590675"/>
                </a:cubicBezTo>
                <a:lnTo>
                  <a:pt x="152403" y="1590675"/>
                </a:lnTo>
                <a:cubicBezTo>
                  <a:pt x="68289" y="1590675"/>
                  <a:pt x="0" y="1522386"/>
                  <a:pt x="0" y="14382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3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1270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30405" y="36561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658993" y="377041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146" y="57150"/>
                </a:moveTo>
                <a:lnTo>
                  <a:pt x="62374" y="-5760"/>
                </a:lnTo>
                <a:cubicBezTo>
                  <a:pt x="59472" y="-10582"/>
                  <a:pt x="53400" y="-12323"/>
                  <a:pt x="48399" y="-9823"/>
                </a:cubicBezTo>
                <a:lnTo>
                  <a:pt x="9733" y="9510"/>
                </a:lnTo>
                <a:cubicBezTo>
                  <a:pt x="4420" y="12144"/>
                  <a:pt x="2277" y="18574"/>
                  <a:pt x="4911" y="23887"/>
                </a:cubicBezTo>
                <a:lnTo>
                  <a:pt x="35987" y="85993"/>
                </a:lnTo>
                <a:cubicBezTo>
                  <a:pt x="22547" y="101129"/>
                  <a:pt x="14421" y="121042"/>
                  <a:pt x="14421" y="142875"/>
                </a:cubicBezTo>
                <a:cubicBezTo>
                  <a:pt x="14421" y="190202"/>
                  <a:pt x="52819" y="228600"/>
                  <a:pt x="100146" y="228600"/>
                </a:cubicBezTo>
                <a:cubicBezTo>
                  <a:pt x="147474" y="228600"/>
                  <a:pt x="185871" y="190202"/>
                  <a:pt x="185871" y="142875"/>
                </a:cubicBezTo>
                <a:cubicBezTo>
                  <a:pt x="185871" y="121042"/>
                  <a:pt x="177701" y="101129"/>
                  <a:pt x="164306" y="85993"/>
                </a:cubicBezTo>
                <a:lnTo>
                  <a:pt x="195382" y="23887"/>
                </a:lnTo>
                <a:cubicBezTo>
                  <a:pt x="198016" y="18574"/>
                  <a:pt x="195873" y="12144"/>
                  <a:pt x="190604" y="9510"/>
                </a:cubicBezTo>
                <a:lnTo>
                  <a:pt x="151894" y="-9867"/>
                </a:lnTo>
                <a:cubicBezTo>
                  <a:pt x="146893" y="-12368"/>
                  <a:pt x="140777" y="-10582"/>
                  <a:pt x="137919" y="-5804"/>
                </a:cubicBezTo>
                <a:lnTo>
                  <a:pt x="100146" y="57150"/>
                </a:lnTo>
                <a:close/>
                <a:moveTo>
                  <a:pt x="113898" y="120774"/>
                </a:moveTo>
                <a:cubicBezTo>
                  <a:pt x="114523" y="122024"/>
                  <a:pt x="115684" y="122873"/>
                  <a:pt x="117024" y="123051"/>
                </a:cubicBezTo>
                <a:lnTo>
                  <a:pt x="139392" y="126310"/>
                </a:lnTo>
                <a:cubicBezTo>
                  <a:pt x="142830" y="126802"/>
                  <a:pt x="144170" y="130999"/>
                  <a:pt x="141714" y="133454"/>
                </a:cubicBezTo>
                <a:lnTo>
                  <a:pt x="125507" y="149260"/>
                </a:lnTo>
                <a:cubicBezTo>
                  <a:pt x="124524" y="150242"/>
                  <a:pt x="124078" y="151581"/>
                  <a:pt x="124301" y="152966"/>
                </a:cubicBezTo>
                <a:lnTo>
                  <a:pt x="128141" y="175245"/>
                </a:lnTo>
                <a:cubicBezTo>
                  <a:pt x="128721" y="178638"/>
                  <a:pt x="125150" y="181273"/>
                  <a:pt x="122069" y="179665"/>
                </a:cubicBezTo>
                <a:lnTo>
                  <a:pt x="102066" y="169128"/>
                </a:lnTo>
                <a:cubicBezTo>
                  <a:pt x="100861" y="168503"/>
                  <a:pt x="99387" y="168503"/>
                  <a:pt x="98182" y="169128"/>
                </a:cubicBezTo>
                <a:lnTo>
                  <a:pt x="78179" y="179665"/>
                </a:lnTo>
                <a:cubicBezTo>
                  <a:pt x="75099" y="181273"/>
                  <a:pt x="71527" y="178683"/>
                  <a:pt x="72107" y="175245"/>
                </a:cubicBezTo>
                <a:lnTo>
                  <a:pt x="75947" y="152966"/>
                </a:lnTo>
                <a:cubicBezTo>
                  <a:pt x="76170" y="151626"/>
                  <a:pt x="75724" y="150242"/>
                  <a:pt x="74741" y="149260"/>
                </a:cubicBezTo>
                <a:lnTo>
                  <a:pt x="58534" y="133454"/>
                </a:lnTo>
                <a:cubicBezTo>
                  <a:pt x="56034" y="131043"/>
                  <a:pt x="57418" y="126846"/>
                  <a:pt x="60856" y="126310"/>
                </a:cubicBezTo>
                <a:lnTo>
                  <a:pt x="83225" y="123051"/>
                </a:lnTo>
                <a:cubicBezTo>
                  <a:pt x="84564" y="122873"/>
                  <a:pt x="85770" y="121980"/>
                  <a:pt x="86350" y="120774"/>
                </a:cubicBezTo>
                <a:lnTo>
                  <a:pt x="96351" y="100504"/>
                </a:lnTo>
                <a:cubicBezTo>
                  <a:pt x="97869" y="97378"/>
                  <a:pt x="102290" y="97378"/>
                  <a:pt x="103852" y="100504"/>
                </a:cubicBezTo>
                <a:lnTo>
                  <a:pt x="113854" y="120774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5" name="Text 12"/>
          <p:cNvSpPr/>
          <p:nvPr/>
        </p:nvSpPr>
        <p:spPr>
          <a:xfrm>
            <a:off x="8101905" y="3732312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Leaderboard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530405" y="4227612"/>
            <a:ext cx="415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 rankings, streaks, and achievements that drive healthy competition and accountability.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35143" y="5146328"/>
            <a:ext cx="4467225" cy="1590675"/>
          </a:xfrm>
          <a:custGeom>
            <a:avLst/>
            <a:gdLst/>
            <a:ahLst/>
            <a:cxnLst/>
            <a:rect l="l" t="t" r="r" b="b"/>
            <a:pathLst>
              <a:path w="4467225" h="1590675">
                <a:moveTo>
                  <a:pt x="152403" y="0"/>
                </a:moveTo>
                <a:lnTo>
                  <a:pt x="4314822" y="0"/>
                </a:lnTo>
                <a:cubicBezTo>
                  <a:pt x="4398936" y="0"/>
                  <a:pt x="4467225" y="68289"/>
                  <a:pt x="4467225" y="152403"/>
                </a:cubicBezTo>
                <a:lnTo>
                  <a:pt x="4467225" y="1438272"/>
                </a:lnTo>
                <a:cubicBezTo>
                  <a:pt x="4467225" y="1522386"/>
                  <a:pt x="4398936" y="1590675"/>
                  <a:pt x="4314822" y="1590675"/>
                </a:cubicBezTo>
                <a:lnTo>
                  <a:pt x="152403" y="1590675"/>
                </a:lnTo>
                <a:cubicBezTo>
                  <a:pt x="68289" y="1590675"/>
                  <a:pt x="0" y="1522386"/>
                  <a:pt x="0" y="14382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30405" y="54077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644705" y="55220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3545" y="30718"/>
                </a:moveTo>
                <a:cubicBezTo>
                  <a:pt x="146938" y="24958"/>
                  <a:pt x="153099" y="21431"/>
                  <a:pt x="159752" y="21431"/>
                </a:cubicBezTo>
                <a:lnTo>
                  <a:pt x="160734" y="21431"/>
                </a:lnTo>
                <a:cubicBezTo>
                  <a:pt x="170602" y="21431"/>
                  <a:pt x="178594" y="29423"/>
                  <a:pt x="178594" y="39291"/>
                </a:cubicBezTo>
                <a:cubicBezTo>
                  <a:pt x="178594" y="49158"/>
                  <a:pt x="170602" y="57150"/>
                  <a:pt x="160734" y="57150"/>
                </a:cubicBezTo>
                <a:lnTo>
                  <a:pt x="128007" y="57150"/>
                </a:lnTo>
                <a:lnTo>
                  <a:pt x="143545" y="30718"/>
                </a:lnTo>
                <a:close/>
                <a:moveTo>
                  <a:pt x="85055" y="30718"/>
                </a:moveTo>
                <a:lnTo>
                  <a:pt x="100593" y="57150"/>
                </a:lnTo>
                <a:lnTo>
                  <a:pt x="67866" y="57150"/>
                </a:lnTo>
                <a:cubicBezTo>
                  <a:pt x="57998" y="57150"/>
                  <a:pt x="50006" y="49158"/>
                  <a:pt x="50006" y="39291"/>
                </a:cubicBezTo>
                <a:cubicBezTo>
                  <a:pt x="50006" y="29423"/>
                  <a:pt x="57998" y="21431"/>
                  <a:pt x="67866" y="21431"/>
                </a:cubicBezTo>
                <a:lnTo>
                  <a:pt x="68848" y="21431"/>
                </a:lnTo>
                <a:cubicBezTo>
                  <a:pt x="75501" y="21431"/>
                  <a:pt x="81707" y="24958"/>
                  <a:pt x="85055" y="30718"/>
                </a:cubicBezTo>
                <a:close/>
                <a:moveTo>
                  <a:pt x="125060" y="19869"/>
                </a:moveTo>
                <a:lnTo>
                  <a:pt x="114300" y="38174"/>
                </a:lnTo>
                <a:lnTo>
                  <a:pt x="103540" y="19869"/>
                </a:lnTo>
                <a:cubicBezTo>
                  <a:pt x="96307" y="7546"/>
                  <a:pt x="83091" y="0"/>
                  <a:pt x="68848" y="0"/>
                </a:cubicBezTo>
                <a:lnTo>
                  <a:pt x="67866" y="0"/>
                </a:lnTo>
                <a:cubicBezTo>
                  <a:pt x="46166" y="0"/>
                  <a:pt x="28575" y="17591"/>
                  <a:pt x="28575" y="39291"/>
                </a:cubicBezTo>
                <a:cubicBezTo>
                  <a:pt x="28575" y="45720"/>
                  <a:pt x="30138" y="51792"/>
                  <a:pt x="32861" y="57150"/>
                </a:cubicBez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lnTo>
                  <a:pt x="0" y="85725"/>
                </a:lnTo>
                <a:cubicBezTo>
                  <a:pt x="0" y="93628"/>
                  <a:pt x="6385" y="100013"/>
                  <a:pt x="14288" y="100013"/>
                </a:cubicBezTo>
                <a:lnTo>
                  <a:pt x="214313" y="100013"/>
                </a:lnTo>
                <a:cubicBezTo>
                  <a:pt x="222215" y="100013"/>
                  <a:pt x="228600" y="93628"/>
                  <a:pt x="228600" y="85725"/>
                </a:cubicBezTo>
                <a:lnTo>
                  <a:pt x="228600" y="71438"/>
                </a:lnTo>
                <a:cubicBezTo>
                  <a:pt x="228600" y="63535"/>
                  <a:pt x="222215" y="57150"/>
                  <a:pt x="214313" y="57150"/>
                </a:cubicBezTo>
                <a:lnTo>
                  <a:pt x="195739" y="57150"/>
                </a:lnTo>
                <a:cubicBezTo>
                  <a:pt x="198462" y="51792"/>
                  <a:pt x="200025" y="45720"/>
                  <a:pt x="200025" y="39291"/>
                </a:cubicBezTo>
                <a:cubicBezTo>
                  <a:pt x="200025" y="17591"/>
                  <a:pt x="182434" y="0"/>
                  <a:pt x="160734" y="0"/>
                </a:cubicBezTo>
                <a:lnTo>
                  <a:pt x="159752" y="0"/>
                </a:lnTo>
                <a:cubicBezTo>
                  <a:pt x="145509" y="0"/>
                  <a:pt x="132293" y="7546"/>
                  <a:pt x="125060" y="19824"/>
                </a:cubicBezTo>
                <a:close/>
                <a:moveTo>
                  <a:pt x="214313" y="121444"/>
                </a:moveTo>
                <a:lnTo>
                  <a:pt x="125016" y="121444"/>
                </a:lnTo>
                <a:lnTo>
                  <a:pt x="125016" y="214313"/>
                </a:lnTo>
                <a:lnTo>
                  <a:pt x="185738" y="214313"/>
                </a:lnTo>
                <a:cubicBezTo>
                  <a:pt x="201498" y="214313"/>
                  <a:pt x="214313" y="201498"/>
                  <a:pt x="214313" y="185738"/>
                </a:cubicBezTo>
                <a:lnTo>
                  <a:pt x="214313" y="121444"/>
                </a:lnTo>
                <a:close/>
                <a:moveTo>
                  <a:pt x="103584" y="121444"/>
                </a:moveTo>
                <a:lnTo>
                  <a:pt x="14288" y="121444"/>
                </a:lnTo>
                <a:lnTo>
                  <a:pt x="14288" y="185738"/>
                </a:lnTo>
                <a:cubicBezTo>
                  <a:pt x="14288" y="201498"/>
                  <a:pt x="27102" y="214313"/>
                  <a:pt x="42863" y="214313"/>
                </a:cubicBezTo>
                <a:lnTo>
                  <a:pt x="103584" y="214313"/>
                </a:lnTo>
                <a:lnTo>
                  <a:pt x="103584" y="121444"/>
                </a:ln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20" name="Text 17"/>
          <p:cNvSpPr/>
          <p:nvPr/>
        </p:nvSpPr>
        <p:spPr>
          <a:xfrm>
            <a:off x="8101905" y="5483944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Rewards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30405" y="5979244"/>
            <a:ext cx="4152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reward system with points, badges, certificates, and tangible incentives for completion.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steps to transform learning outcomes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2733675" cy="4086225"/>
          </a:xfrm>
          <a:custGeom>
            <a:avLst/>
            <a:gdLst/>
            <a:ahLst/>
            <a:cxnLst/>
            <a:rect l="l" t="t" r="r" b="b"/>
            <a:pathLst>
              <a:path w="2733675" h="40862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3933823"/>
                </a:lnTo>
                <a:cubicBezTo>
                  <a:pt x="2733675" y="4017992"/>
                  <a:pt x="2665442" y="4086225"/>
                  <a:pt x="2581273" y="4086225"/>
                </a:cubicBezTo>
                <a:lnTo>
                  <a:pt x="152402" y="4086225"/>
                </a:lnTo>
                <a:cubicBezTo>
                  <a:pt x="68233" y="4086225"/>
                  <a:pt x="0" y="4017992"/>
                  <a:pt x="0" y="39338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40000"/>
                </a:srgbClr>
              </a:gs>
              <a:gs pos="100000">
                <a:srgbClr val="3D8F8A">
                  <a:alpha val="10000"/>
                </a:srgbClr>
              </a:gs>
            </a:gsLst>
            <a:lin ang="5400000" scaled="1"/>
          </a:gra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76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Text 5"/>
          <p:cNvSpPr/>
          <p:nvPr/>
        </p:nvSpPr>
        <p:spPr>
          <a:xfrm>
            <a:off x="775618" y="20097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57450" y="20097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91083" y="85725"/>
                </a:moveTo>
                <a:cubicBezTo>
                  <a:pt x="91083" y="41369"/>
                  <a:pt x="127094" y="5358"/>
                  <a:pt x="171450" y="5358"/>
                </a:cubicBezTo>
                <a:cubicBezTo>
                  <a:pt x="215806" y="5358"/>
                  <a:pt x="251817" y="41369"/>
                  <a:pt x="251817" y="85725"/>
                </a:cubicBezTo>
                <a:cubicBezTo>
                  <a:pt x="251817" y="130081"/>
                  <a:pt x="215806" y="166092"/>
                  <a:pt x="171450" y="166092"/>
                </a:cubicBezTo>
                <a:cubicBezTo>
                  <a:pt x="127094" y="166092"/>
                  <a:pt x="91083" y="130081"/>
                  <a:pt x="91083" y="85725"/>
                </a:cubicBezTo>
                <a:close/>
                <a:moveTo>
                  <a:pt x="32147" y="323009"/>
                </a:moveTo>
                <a:cubicBezTo>
                  <a:pt x="32147" y="257041"/>
                  <a:pt x="85591" y="203597"/>
                  <a:pt x="151559" y="203597"/>
                </a:cubicBezTo>
                <a:lnTo>
                  <a:pt x="191341" y="203597"/>
                </a:lnTo>
                <a:cubicBezTo>
                  <a:pt x="257309" y="203597"/>
                  <a:pt x="310753" y="257041"/>
                  <a:pt x="310753" y="323009"/>
                </a:cubicBezTo>
                <a:cubicBezTo>
                  <a:pt x="310753" y="333993"/>
                  <a:pt x="301846" y="342900"/>
                  <a:pt x="290862" y="342900"/>
                </a:cubicBezTo>
                <a:lnTo>
                  <a:pt x="52038" y="342900"/>
                </a:lnTo>
                <a:cubicBezTo>
                  <a:pt x="41054" y="342900"/>
                  <a:pt x="32147" y="333993"/>
                  <a:pt x="32147" y="323009"/>
                </a:cubicBezTo>
                <a:close/>
                <a:moveTo>
                  <a:pt x="364331" y="64294"/>
                </a:moveTo>
                <a:cubicBezTo>
                  <a:pt x="373239" y="64294"/>
                  <a:pt x="380405" y="71460"/>
                  <a:pt x="380405" y="80367"/>
                </a:cubicBezTo>
                <a:lnTo>
                  <a:pt x="380405" y="112514"/>
                </a:lnTo>
                <a:lnTo>
                  <a:pt x="412552" y="112514"/>
                </a:lnTo>
                <a:cubicBezTo>
                  <a:pt x="421459" y="112514"/>
                  <a:pt x="428625" y="119680"/>
                  <a:pt x="428625" y="128588"/>
                </a:cubicBezTo>
                <a:cubicBezTo>
                  <a:pt x="428625" y="137495"/>
                  <a:pt x="421459" y="144661"/>
                  <a:pt x="412552" y="144661"/>
                </a:cubicBezTo>
                <a:lnTo>
                  <a:pt x="380405" y="144661"/>
                </a:lnTo>
                <a:lnTo>
                  <a:pt x="380405" y="176808"/>
                </a:lnTo>
                <a:cubicBezTo>
                  <a:pt x="380405" y="185715"/>
                  <a:pt x="373239" y="192881"/>
                  <a:pt x="364331" y="192881"/>
                </a:cubicBezTo>
                <a:cubicBezTo>
                  <a:pt x="355424" y="192881"/>
                  <a:pt x="348258" y="185715"/>
                  <a:pt x="348258" y="176808"/>
                </a:cubicBezTo>
                <a:lnTo>
                  <a:pt x="348258" y="144661"/>
                </a:lnTo>
                <a:lnTo>
                  <a:pt x="316111" y="144661"/>
                </a:lnTo>
                <a:cubicBezTo>
                  <a:pt x="307204" y="144661"/>
                  <a:pt x="300038" y="137495"/>
                  <a:pt x="300038" y="128588"/>
                </a:cubicBezTo>
                <a:cubicBezTo>
                  <a:pt x="300038" y="119680"/>
                  <a:pt x="307204" y="112514"/>
                  <a:pt x="316111" y="112514"/>
                </a:cubicBezTo>
                <a:lnTo>
                  <a:pt x="348258" y="112514"/>
                </a:lnTo>
                <a:lnTo>
                  <a:pt x="348258" y="80367"/>
                </a:lnTo>
                <a:cubicBezTo>
                  <a:pt x="348258" y="71460"/>
                  <a:pt x="355424" y="64294"/>
                  <a:pt x="364331" y="6429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7"/>
          <p:cNvSpPr/>
          <p:nvPr/>
        </p:nvSpPr>
        <p:spPr>
          <a:xfrm>
            <a:off x="619125" y="26384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3057525"/>
            <a:ext cx="2343150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or employees sign up and connect their existing learning platforms (Coursera, Udemy, etc.).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" y="5148263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  <a:lnTo>
                  <a:pt x="2266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9125" y="53054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5-minute setup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81363" y="1643063"/>
            <a:ext cx="2733675" cy="4086225"/>
          </a:xfrm>
          <a:custGeom>
            <a:avLst/>
            <a:gdLst/>
            <a:ahLst/>
            <a:cxnLst/>
            <a:rect l="l" t="t" r="r" b="b"/>
            <a:pathLst>
              <a:path w="2733675" h="40862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3933823"/>
                </a:lnTo>
                <a:cubicBezTo>
                  <a:pt x="2733675" y="4017992"/>
                  <a:pt x="2665442" y="4086225"/>
                  <a:pt x="2581273" y="4086225"/>
                </a:cubicBezTo>
                <a:lnTo>
                  <a:pt x="152402" y="4086225"/>
                </a:lnTo>
                <a:cubicBezTo>
                  <a:pt x="68233" y="4086225"/>
                  <a:pt x="0" y="4017992"/>
                  <a:pt x="0" y="39338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40000"/>
                </a:srgbClr>
              </a:gs>
              <a:gs pos="100000">
                <a:srgbClr val="E9C46A">
                  <a:alpha val="10000"/>
                </a:srgbClr>
              </a:gs>
            </a:gsLst>
            <a:lin ang="5400000" scaled="1"/>
          </a:gradFill>
          <a:ln w="12700">
            <a:solidFill>
              <a:srgbClr val="E9C46A">
                <a:alpha val="5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4725" y="1876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3645322" y="20097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5913" y="20097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3514725" y="26384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Behavior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14725" y="3057525"/>
            <a:ext cx="2343150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system monitors real engagement, time spent, consistency, and learning patterns.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4725" y="5148263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  <a:lnTo>
                  <a:pt x="2266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14725" y="53054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verification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963" y="1643063"/>
            <a:ext cx="2733675" cy="4086225"/>
          </a:xfrm>
          <a:custGeom>
            <a:avLst/>
            <a:gdLst/>
            <a:ahLst/>
            <a:cxnLst/>
            <a:rect l="l" t="t" r="r" b="b"/>
            <a:pathLst>
              <a:path w="2733675" h="40862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3933823"/>
                </a:lnTo>
                <a:cubicBezTo>
                  <a:pt x="2733675" y="4017992"/>
                  <a:pt x="2665442" y="4086225"/>
                  <a:pt x="2581273" y="4086225"/>
                </a:cubicBezTo>
                <a:lnTo>
                  <a:pt x="152402" y="4086225"/>
                </a:lnTo>
                <a:cubicBezTo>
                  <a:pt x="68233" y="4086225"/>
                  <a:pt x="0" y="4017992"/>
                  <a:pt x="0" y="39338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40000"/>
                </a:srgbClr>
              </a:gs>
              <a:gs pos="100000">
                <a:srgbClr val="3D8F8A">
                  <a:alpha val="10000"/>
                </a:srgbClr>
              </a:gs>
            </a:gsLst>
            <a:lin ang="5400000" scaled="1"/>
          </a:gra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0325" y="1876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9657" y="20097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91513" y="20097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6410325" y="26384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Earn Rewards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0325" y="3057525"/>
            <a:ext cx="2343150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receive tiered rewards, badges, and recognition for sustained effort and course completion.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0325" y="5148263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  <a:lnTo>
                  <a:pt x="2266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10325" y="53054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Gamified incentives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72563" y="1643063"/>
            <a:ext cx="2733675" cy="4086225"/>
          </a:xfrm>
          <a:custGeom>
            <a:avLst/>
            <a:gdLst/>
            <a:ahLst/>
            <a:cxnLst/>
            <a:rect l="l" t="t" r="r" b="b"/>
            <a:pathLst>
              <a:path w="2733675" h="4086225">
                <a:moveTo>
                  <a:pt x="152402" y="0"/>
                </a:moveTo>
                <a:lnTo>
                  <a:pt x="2581273" y="0"/>
                </a:lnTo>
                <a:cubicBezTo>
                  <a:pt x="2665442" y="0"/>
                  <a:pt x="2733675" y="68233"/>
                  <a:pt x="2733675" y="152402"/>
                </a:cubicBezTo>
                <a:lnTo>
                  <a:pt x="2733675" y="3933823"/>
                </a:lnTo>
                <a:cubicBezTo>
                  <a:pt x="2733675" y="4017992"/>
                  <a:pt x="2665442" y="4086225"/>
                  <a:pt x="2581273" y="4086225"/>
                </a:cubicBezTo>
                <a:lnTo>
                  <a:pt x="152402" y="4086225"/>
                </a:lnTo>
                <a:cubicBezTo>
                  <a:pt x="68233" y="4086225"/>
                  <a:pt x="0" y="4017992"/>
                  <a:pt x="0" y="39338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40000"/>
                </a:srgbClr>
              </a:gs>
              <a:gs pos="100000">
                <a:srgbClr val="E9C46A">
                  <a:alpha val="10000"/>
                </a:srgbClr>
              </a:gs>
            </a:gsLst>
            <a:lin ang="5400000" scaled="1"/>
          </a:gradFill>
          <a:ln w="12700">
            <a:solidFill>
              <a:srgbClr val="E9C46A">
                <a:alpha val="5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05925" y="18764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9435405" y="20097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165681" y="200977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43168" y="160734"/>
                </a:moveTo>
                <a:lnTo>
                  <a:pt x="225296" y="160734"/>
                </a:lnTo>
                <a:cubicBezTo>
                  <a:pt x="213442" y="160734"/>
                  <a:pt x="203865" y="151157"/>
                  <a:pt x="203865" y="139303"/>
                </a:cubicBezTo>
                <a:lnTo>
                  <a:pt x="203865" y="21431"/>
                </a:lnTo>
                <a:cubicBezTo>
                  <a:pt x="203865" y="9577"/>
                  <a:pt x="213509" y="-134"/>
                  <a:pt x="225229" y="1406"/>
                </a:cubicBezTo>
                <a:cubicBezTo>
                  <a:pt x="296890" y="10917"/>
                  <a:pt x="353683" y="67709"/>
                  <a:pt x="363193" y="139370"/>
                </a:cubicBezTo>
                <a:cubicBezTo>
                  <a:pt x="364733" y="151090"/>
                  <a:pt x="355022" y="160734"/>
                  <a:pt x="343168" y="160734"/>
                </a:cubicBezTo>
                <a:close/>
                <a:moveTo>
                  <a:pt x="149081" y="24914"/>
                </a:moveTo>
                <a:cubicBezTo>
                  <a:pt x="161203" y="22369"/>
                  <a:pt x="171718" y="32281"/>
                  <a:pt x="171718" y="44671"/>
                </a:cubicBezTo>
                <a:lnTo>
                  <a:pt x="171718" y="176808"/>
                </a:lnTo>
                <a:cubicBezTo>
                  <a:pt x="171718" y="180558"/>
                  <a:pt x="173057" y="184175"/>
                  <a:pt x="175401" y="187055"/>
                </a:cubicBezTo>
                <a:lnTo>
                  <a:pt x="263872" y="293809"/>
                </a:lnTo>
                <a:cubicBezTo>
                  <a:pt x="271708" y="303252"/>
                  <a:pt x="270034" y="317517"/>
                  <a:pt x="259251" y="323344"/>
                </a:cubicBezTo>
                <a:cubicBezTo>
                  <a:pt x="236413" y="335801"/>
                  <a:pt x="210227" y="342900"/>
                  <a:pt x="182434" y="342900"/>
                </a:cubicBezTo>
                <a:cubicBezTo>
                  <a:pt x="93695" y="342900"/>
                  <a:pt x="21699" y="270904"/>
                  <a:pt x="21699" y="182166"/>
                </a:cubicBezTo>
                <a:cubicBezTo>
                  <a:pt x="21699" y="104812"/>
                  <a:pt x="76282" y="40251"/>
                  <a:pt x="149081" y="24914"/>
                </a:cubicBezTo>
                <a:close/>
                <a:moveTo>
                  <a:pt x="319995" y="192881"/>
                </a:moveTo>
                <a:lnTo>
                  <a:pt x="362858" y="192881"/>
                </a:lnTo>
                <a:cubicBezTo>
                  <a:pt x="375248" y="192881"/>
                  <a:pt x="385160" y="203396"/>
                  <a:pt x="382615" y="215518"/>
                </a:cubicBezTo>
                <a:cubicBezTo>
                  <a:pt x="375784" y="247933"/>
                  <a:pt x="359174" y="276731"/>
                  <a:pt x="336002" y="298698"/>
                </a:cubicBezTo>
                <a:cubicBezTo>
                  <a:pt x="327764" y="306534"/>
                  <a:pt x="314838" y="304860"/>
                  <a:pt x="307605" y="296086"/>
                </a:cubicBezTo>
                <a:lnTo>
                  <a:pt x="251080" y="227975"/>
                </a:lnTo>
                <a:cubicBezTo>
                  <a:pt x="239494" y="213978"/>
                  <a:pt x="249473" y="192881"/>
                  <a:pt x="267556" y="192881"/>
                </a:cubicBezTo>
                <a:lnTo>
                  <a:pt x="319928" y="192881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9305925" y="2638425"/>
            <a:ext cx="238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Outcomes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05925" y="3057525"/>
            <a:ext cx="2343150" cy="193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 access detailed analytics on completion rates, skill development, and learning ROI.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305925" y="5148263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  <a:lnTo>
                  <a:pt x="2266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05925" y="53054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insights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589121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466726"/>
                </a:lnTo>
                <a:cubicBezTo>
                  <a:pt x="11420475" y="529851"/>
                  <a:pt x="11369301" y="581025"/>
                  <a:pt x="11306176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9921" y="6086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3748534" y="60483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13871" y="6086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5942484" y="6048375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Disruption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00168" y="6086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7628781" y="6048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Visibility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981325" y="35575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45" name="Shape 43"/>
          <p:cNvSpPr/>
          <p:nvPr/>
        </p:nvSpPr>
        <p:spPr>
          <a:xfrm>
            <a:off x="5876925" y="35575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46" name="Shape 44"/>
          <p:cNvSpPr/>
          <p:nvPr/>
        </p:nvSpPr>
        <p:spPr>
          <a:xfrm>
            <a:off x="8772525" y="35575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E9C46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you need to ensure learning completion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29275" cy="2447925"/>
          </a:xfrm>
          <a:custGeom>
            <a:avLst/>
            <a:gdLst/>
            <a:ahLst/>
            <a:cxnLst/>
            <a:rect l="l" t="t" r="r" b="b"/>
            <a:pathLst>
              <a:path w="5629275" h="2447925">
                <a:moveTo>
                  <a:pt x="152408" y="0"/>
                </a:moveTo>
                <a:lnTo>
                  <a:pt x="5476867" y="0"/>
                </a:lnTo>
                <a:cubicBezTo>
                  <a:pt x="5561040" y="0"/>
                  <a:pt x="5629275" y="68235"/>
                  <a:pt x="5629275" y="152408"/>
                </a:cubicBezTo>
                <a:lnTo>
                  <a:pt x="5629275" y="2295517"/>
                </a:lnTo>
                <a:cubicBezTo>
                  <a:pt x="5629275" y="2379690"/>
                  <a:pt x="5561040" y="2447925"/>
                  <a:pt x="5476867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40000"/>
                </a:srgbClr>
              </a:gs>
              <a:gs pos="100000">
                <a:srgbClr val="3D8F8A">
                  <a:alpha val="10000"/>
                </a:srgbClr>
              </a:gs>
            </a:gsLst>
            <a:lin ang="2700000" scaled="1"/>
          </a:gra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91571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8675" y="212526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6"/>
          <p:cNvSpPr/>
          <p:nvPr/>
        </p:nvSpPr>
        <p:spPr>
          <a:xfrm>
            <a:off x="1571625" y="1915716"/>
            <a:ext cx="435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Verified Learning Tracking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71625" y="2372916"/>
            <a:ext cx="4295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authenticates real engagement. We verify time spent, activity patterns, and actual learning behavior - not just login timestamps.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95438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1831777" y="3361134"/>
            <a:ext cx="1133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verification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2585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8924" y="3361134"/>
            <a:ext cx="1285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Activity monitoring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82877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142" y="3361134"/>
            <a:ext cx="94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Anti-cheating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963" y="1643063"/>
            <a:ext cx="5629275" cy="2447925"/>
          </a:xfrm>
          <a:custGeom>
            <a:avLst/>
            <a:gdLst/>
            <a:ahLst/>
            <a:cxnLst/>
            <a:rect l="l" t="t" r="r" b="b"/>
            <a:pathLst>
              <a:path w="5629275" h="2447925">
                <a:moveTo>
                  <a:pt x="152408" y="0"/>
                </a:moveTo>
                <a:lnTo>
                  <a:pt x="5476867" y="0"/>
                </a:lnTo>
                <a:cubicBezTo>
                  <a:pt x="5561040" y="0"/>
                  <a:pt x="5629275" y="68235"/>
                  <a:pt x="5629275" y="152408"/>
                </a:cubicBezTo>
                <a:lnTo>
                  <a:pt x="5629275" y="2295517"/>
                </a:lnTo>
                <a:cubicBezTo>
                  <a:pt x="5629275" y="2379690"/>
                  <a:pt x="5561040" y="2447925"/>
                  <a:pt x="5476867" y="2447925"/>
                </a:cubicBezTo>
                <a:lnTo>
                  <a:pt x="152408" y="2447925"/>
                </a:lnTo>
                <a:cubicBezTo>
                  <a:pt x="68235" y="2447925"/>
                  <a:pt x="0" y="2379690"/>
                  <a:pt x="0" y="229551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4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12700">
            <a:solidFill>
              <a:srgbClr val="E9C46A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0325" y="191571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619875" y="212526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55711" y="3483"/>
                </a:moveTo>
                <a:cubicBezTo>
                  <a:pt x="165690" y="-1139"/>
                  <a:pt x="177210" y="-1139"/>
                  <a:pt x="187189" y="3483"/>
                </a:cubicBezTo>
                <a:lnTo>
                  <a:pt x="333591" y="71125"/>
                </a:lnTo>
                <a:cubicBezTo>
                  <a:pt x="339283" y="73737"/>
                  <a:pt x="342900" y="79430"/>
                  <a:pt x="342900" y="85725"/>
                </a:cubicBezTo>
                <a:cubicBezTo>
                  <a:pt x="342900" y="92020"/>
                  <a:pt x="339283" y="97713"/>
                  <a:pt x="333591" y="100325"/>
                </a:cubicBezTo>
                <a:lnTo>
                  <a:pt x="187189" y="167967"/>
                </a:lnTo>
                <a:cubicBezTo>
                  <a:pt x="177210" y="172589"/>
                  <a:pt x="165690" y="172589"/>
                  <a:pt x="155711" y="167967"/>
                </a:cubicBezTo>
                <a:lnTo>
                  <a:pt x="9309" y="100325"/>
                </a:lnTo>
                <a:cubicBezTo>
                  <a:pt x="3617" y="97646"/>
                  <a:pt x="0" y="91953"/>
                  <a:pt x="0" y="85725"/>
                </a:cubicBezTo>
                <a:cubicBezTo>
                  <a:pt x="0" y="79497"/>
                  <a:pt x="3617" y="73737"/>
                  <a:pt x="9309" y="71125"/>
                </a:cubicBezTo>
                <a:lnTo>
                  <a:pt x="155711" y="3483"/>
                </a:lnTo>
                <a:close/>
                <a:moveTo>
                  <a:pt x="32214" y="146268"/>
                </a:moveTo>
                <a:lnTo>
                  <a:pt x="142250" y="197101"/>
                </a:lnTo>
                <a:cubicBezTo>
                  <a:pt x="160801" y="205673"/>
                  <a:pt x="182166" y="205673"/>
                  <a:pt x="200717" y="197101"/>
                </a:cubicBezTo>
                <a:lnTo>
                  <a:pt x="310753" y="146268"/>
                </a:lnTo>
                <a:lnTo>
                  <a:pt x="333591" y="156850"/>
                </a:lnTo>
                <a:cubicBezTo>
                  <a:pt x="339283" y="159462"/>
                  <a:pt x="342900" y="165155"/>
                  <a:pt x="342900" y="171450"/>
                </a:cubicBezTo>
                <a:cubicBezTo>
                  <a:pt x="342900" y="177745"/>
                  <a:pt x="339283" y="183438"/>
                  <a:pt x="333591" y="186050"/>
                </a:cubicBezTo>
                <a:lnTo>
                  <a:pt x="187189" y="253692"/>
                </a:lnTo>
                <a:cubicBezTo>
                  <a:pt x="177210" y="258314"/>
                  <a:pt x="165690" y="258314"/>
                  <a:pt x="155711" y="253692"/>
                </a:cubicBezTo>
                <a:lnTo>
                  <a:pt x="9309" y="186050"/>
                </a:lnTo>
                <a:cubicBezTo>
                  <a:pt x="3617" y="183371"/>
                  <a:pt x="0" y="177678"/>
                  <a:pt x="0" y="171450"/>
                </a:cubicBezTo>
                <a:cubicBezTo>
                  <a:pt x="0" y="165222"/>
                  <a:pt x="3617" y="159462"/>
                  <a:pt x="9309" y="156850"/>
                </a:cubicBezTo>
                <a:lnTo>
                  <a:pt x="32147" y="146268"/>
                </a:lnTo>
                <a:close/>
                <a:moveTo>
                  <a:pt x="9309" y="242575"/>
                </a:moveTo>
                <a:lnTo>
                  <a:pt x="32147" y="231993"/>
                </a:lnTo>
                <a:lnTo>
                  <a:pt x="142183" y="282826"/>
                </a:lnTo>
                <a:cubicBezTo>
                  <a:pt x="160734" y="291398"/>
                  <a:pt x="182099" y="291398"/>
                  <a:pt x="200650" y="282826"/>
                </a:cubicBezTo>
                <a:lnTo>
                  <a:pt x="310686" y="231993"/>
                </a:lnTo>
                <a:lnTo>
                  <a:pt x="333524" y="242575"/>
                </a:lnTo>
                <a:cubicBezTo>
                  <a:pt x="339217" y="245187"/>
                  <a:pt x="342833" y="250880"/>
                  <a:pt x="342833" y="257175"/>
                </a:cubicBezTo>
                <a:cubicBezTo>
                  <a:pt x="342833" y="263470"/>
                  <a:pt x="339217" y="269163"/>
                  <a:pt x="333524" y="271775"/>
                </a:cubicBezTo>
                <a:lnTo>
                  <a:pt x="187122" y="339417"/>
                </a:lnTo>
                <a:cubicBezTo>
                  <a:pt x="177143" y="344039"/>
                  <a:pt x="165623" y="344039"/>
                  <a:pt x="155644" y="339417"/>
                </a:cubicBezTo>
                <a:lnTo>
                  <a:pt x="9309" y="271775"/>
                </a:lnTo>
                <a:cubicBezTo>
                  <a:pt x="3617" y="269096"/>
                  <a:pt x="0" y="263403"/>
                  <a:pt x="0" y="257175"/>
                </a:cubicBezTo>
                <a:cubicBezTo>
                  <a:pt x="0" y="250947"/>
                  <a:pt x="3617" y="245187"/>
                  <a:pt x="9309" y="242575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62825" y="1915716"/>
            <a:ext cx="435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Tiered Reward System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62825" y="2372916"/>
            <a:ext cx="4295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incentives that scale with consistency. Points for daily streaks, badges for milestones, certificates for completion.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91400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9004" y="3361134"/>
            <a:ext cx="904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streaks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41482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879086" y="3361134"/>
            <a:ext cx="1228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badges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09014" y="35135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10446618" y="3361134"/>
            <a:ext cx="120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 certs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5763" y="4252913"/>
            <a:ext cx="5629275" cy="2219325"/>
          </a:xfrm>
          <a:custGeom>
            <a:avLst/>
            <a:gdLst/>
            <a:ahLst/>
            <a:cxnLst/>
            <a:rect l="l" t="t" r="r" b="b"/>
            <a:pathLst>
              <a:path w="5629275" h="2219325">
                <a:moveTo>
                  <a:pt x="152401" y="0"/>
                </a:moveTo>
                <a:lnTo>
                  <a:pt x="5476874" y="0"/>
                </a:lnTo>
                <a:cubicBezTo>
                  <a:pt x="5561043" y="0"/>
                  <a:pt x="5629275" y="68232"/>
                  <a:pt x="5629275" y="152401"/>
                </a:cubicBezTo>
                <a:lnTo>
                  <a:pt x="5629275" y="2066924"/>
                </a:lnTo>
                <a:cubicBezTo>
                  <a:pt x="5629275" y="2151093"/>
                  <a:pt x="5561043" y="2219325"/>
                  <a:pt x="547687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4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125" y="452556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8675" y="473511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0038" y="171450"/>
                </a:moveTo>
                <a:cubicBezTo>
                  <a:pt x="300038" y="100481"/>
                  <a:pt x="242419" y="42863"/>
                  <a:pt x="171450" y="42863"/>
                </a:cubicBezTo>
                <a:cubicBezTo>
                  <a:pt x="100481" y="42863"/>
                  <a:pt x="42863" y="100481"/>
                  <a:pt x="42863" y="171450"/>
                </a:cubicBezTo>
                <a:cubicBezTo>
                  <a:pt x="42863" y="242419"/>
                  <a:pt x="100481" y="300038"/>
                  <a:pt x="171450" y="300038"/>
                </a:cubicBezTo>
                <a:cubicBezTo>
                  <a:pt x="242419" y="300038"/>
                  <a:pt x="300038" y="242419"/>
                  <a:pt x="300038" y="171450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225028"/>
                </a:moveTo>
                <a:cubicBezTo>
                  <a:pt x="201021" y="225028"/>
                  <a:pt x="225028" y="201021"/>
                  <a:pt x="225028" y="171450"/>
                </a:cubicBezTo>
                <a:cubicBezTo>
                  <a:pt x="225028" y="141879"/>
                  <a:pt x="201021" y="117872"/>
                  <a:pt x="171450" y="117872"/>
                </a:cubicBezTo>
                <a:cubicBezTo>
                  <a:pt x="141879" y="117872"/>
                  <a:pt x="117872" y="141879"/>
                  <a:pt x="117872" y="171450"/>
                </a:cubicBezTo>
                <a:cubicBezTo>
                  <a:pt x="117872" y="201021"/>
                  <a:pt x="141879" y="225028"/>
                  <a:pt x="171450" y="225028"/>
                </a:cubicBezTo>
                <a:close/>
                <a:moveTo>
                  <a:pt x="171450" y="75009"/>
                </a:moveTo>
                <a:cubicBezTo>
                  <a:pt x="224677" y="75009"/>
                  <a:pt x="267891" y="118223"/>
                  <a:pt x="267891" y="171450"/>
                </a:cubicBezTo>
                <a:cubicBezTo>
                  <a:pt x="267891" y="224677"/>
                  <a:pt x="224677" y="267891"/>
                  <a:pt x="171450" y="267891"/>
                </a:cubicBezTo>
                <a:cubicBezTo>
                  <a:pt x="118223" y="267891"/>
                  <a:pt x="75009" y="224677"/>
                  <a:pt x="75009" y="171450"/>
                </a:cubicBezTo>
                <a:cubicBezTo>
                  <a:pt x="75009" y="118223"/>
                  <a:pt x="118223" y="75009"/>
                  <a:pt x="171450" y="75009"/>
                </a:cubicBezTo>
                <a:close/>
                <a:moveTo>
                  <a:pt x="150019" y="171450"/>
                </a:moveTo>
                <a:cubicBezTo>
                  <a:pt x="150019" y="159622"/>
                  <a:pt x="159622" y="150019"/>
                  <a:pt x="171450" y="150019"/>
                </a:cubicBezTo>
                <a:cubicBezTo>
                  <a:pt x="183278" y="150019"/>
                  <a:pt x="192881" y="159622"/>
                  <a:pt x="192881" y="171450"/>
                </a:cubicBezTo>
                <a:cubicBezTo>
                  <a:pt x="192881" y="183278"/>
                  <a:pt x="183278" y="192881"/>
                  <a:pt x="171450" y="192881"/>
                </a:cubicBezTo>
                <a:cubicBezTo>
                  <a:pt x="159622" y="192881"/>
                  <a:pt x="150019" y="183278"/>
                  <a:pt x="150019" y="171450"/>
                </a:cubicBez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1571625" y="4525566"/>
            <a:ext cx="435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Tools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71625" y="4982766"/>
            <a:ext cx="4295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productivity tools to eliminate distractions. Pomodoro timers, distraction blockers, study schedules, and focus sessions.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600200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3" name="Text 31"/>
          <p:cNvSpPr/>
          <p:nvPr/>
        </p:nvSpPr>
        <p:spPr>
          <a:xfrm>
            <a:off x="1838325" y="5970984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Pomodoro timer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98453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5" name="Text 33"/>
          <p:cNvSpPr/>
          <p:nvPr/>
        </p:nvSpPr>
        <p:spPr>
          <a:xfrm>
            <a:off x="3336578" y="5970984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blocker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0864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7" name="Text 35"/>
          <p:cNvSpPr/>
          <p:nvPr/>
        </p:nvSpPr>
        <p:spPr>
          <a:xfrm>
            <a:off x="4528989" y="5970984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planner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963" y="4252913"/>
            <a:ext cx="5629275" cy="2219325"/>
          </a:xfrm>
          <a:custGeom>
            <a:avLst/>
            <a:gdLst/>
            <a:ahLst/>
            <a:cxnLst/>
            <a:rect l="l" t="t" r="r" b="b"/>
            <a:pathLst>
              <a:path w="5629275" h="2219325">
                <a:moveTo>
                  <a:pt x="152401" y="0"/>
                </a:moveTo>
                <a:lnTo>
                  <a:pt x="5476874" y="0"/>
                </a:lnTo>
                <a:cubicBezTo>
                  <a:pt x="5561043" y="0"/>
                  <a:pt x="5629275" y="68232"/>
                  <a:pt x="5629275" y="152401"/>
                </a:cubicBezTo>
                <a:lnTo>
                  <a:pt x="5629275" y="2066924"/>
                </a:lnTo>
                <a:cubicBezTo>
                  <a:pt x="5629275" y="2151093"/>
                  <a:pt x="5561043" y="2219325"/>
                  <a:pt x="5476874" y="2219325"/>
                </a:cubicBezTo>
                <a:lnTo>
                  <a:pt x="152401" y="2219325"/>
                </a:lnTo>
                <a:cubicBezTo>
                  <a:pt x="68232" y="2219325"/>
                  <a:pt x="0" y="2151093"/>
                  <a:pt x="0" y="2066924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40000"/>
                </a:srgbClr>
              </a:gs>
              <a:gs pos="100000">
                <a:srgbClr val="3D8F8A">
                  <a:alpha val="10000"/>
                </a:srgbClr>
              </a:gs>
            </a:gsLst>
            <a:lin ang="2700000" scaled="1"/>
          </a:gra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10325" y="452556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19875" y="473511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85725" y="64294"/>
                </a:moveTo>
                <a:cubicBezTo>
                  <a:pt x="85725" y="52440"/>
                  <a:pt x="95302" y="42863"/>
                  <a:pt x="107156" y="42863"/>
                </a:cubicBezTo>
                <a:lnTo>
                  <a:pt x="235744" y="42863"/>
                </a:lnTo>
                <a:cubicBezTo>
                  <a:pt x="247598" y="42863"/>
                  <a:pt x="257175" y="52440"/>
                  <a:pt x="257175" y="64294"/>
                </a:cubicBezTo>
                <a:cubicBezTo>
                  <a:pt x="257175" y="76148"/>
                  <a:pt x="247598" y="85725"/>
                  <a:pt x="235744" y="85725"/>
                </a:cubicBezTo>
                <a:lnTo>
                  <a:pt x="107156" y="85725"/>
                </a:lnTo>
                <a:cubicBezTo>
                  <a:pt x="95302" y="85725"/>
                  <a:pt x="85725" y="76148"/>
                  <a:pt x="85725" y="64294"/>
                </a:cubicBezTo>
                <a:close/>
                <a:moveTo>
                  <a:pt x="107156" y="117872"/>
                </a:moveTo>
                <a:lnTo>
                  <a:pt x="192881" y="117872"/>
                </a:lnTo>
                <a:cubicBezTo>
                  <a:pt x="204735" y="117872"/>
                  <a:pt x="214313" y="127449"/>
                  <a:pt x="214313" y="139303"/>
                </a:cubicBezTo>
                <a:cubicBezTo>
                  <a:pt x="214313" y="151157"/>
                  <a:pt x="204735" y="160734"/>
                  <a:pt x="192881" y="160734"/>
                </a:cubicBezTo>
                <a:lnTo>
                  <a:pt x="107156" y="160734"/>
                </a:lnTo>
                <a:cubicBezTo>
                  <a:pt x="95302" y="160734"/>
                  <a:pt x="85725" y="151157"/>
                  <a:pt x="85725" y="139303"/>
                </a:cubicBezTo>
                <a:cubicBezTo>
                  <a:pt x="85725" y="127449"/>
                  <a:pt x="95302" y="117872"/>
                  <a:pt x="107156" y="117872"/>
                </a:cubicBezTo>
                <a:close/>
                <a:moveTo>
                  <a:pt x="107156" y="192881"/>
                </a:moveTo>
                <a:lnTo>
                  <a:pt x="278606" y="192881"/>
                </a:lnTo>
                <a:cubicBezTo>
                  <a:pt x="290460" y="192881"/>
                  <a:pt x="300038" y="202458"/>
                  <a:pt x="300038" y="214313"/>
                </a:cubicBezTo>
                <a:cubicBezTo>
                  <a:pt x="300038" y="226167"/>
                  <a:pt x="290460" y="235744"/>
                  <a:pt x="278606" y="235744"/>
                </a:cubicBezTo>
                <a:lnTo>
                  <a:pt x="107156" y="235744"/>
                </a:lnTo>
                <a:cubicBezTo>
                  <a:pt x="95302" y="235744"/>
                  <a:pt x="85725" y="226167"/>
                  <a:pt x="85725" y="214313"/>
                </a:cubicBezTo>
                <a:cubicBezTo>
                  <a:pt x="85725" y="202458"/>
                  <a:pt x="95302" y="192881"/>
                  <a:pt x="107156" y="19288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7362825" y="4525566"/>
            <a:ext cx="435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62825" y="4982766"/>
            <a:ext cx="42957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reporting for institutions. Track completion rates, engagement patterns, skill development, and learning ROI.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91400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4" name="Text 42"/>
          <p:cNvSpPr/>
          <p:nvPr/>
        </p:nvSpPr>
        <p:spPr>
          <a:xfrm>
            <a:off x="7629525" y="5970984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782571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4"/>
          <p:cNvSpPr/>
          <p:nvPr/>
        </p:nvSpPr>
        <p:spPr>
          <a:xfrm>
            <a:off x="9020696" y="5970984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reports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226725" y="600908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8" name="Text 46"/>
          <p:cNvSpPr/>
          <p:nvPr/>
        </p:nvSpPr>
        <p:spPr>
          <a:xfrm>
            <a:off x="10464850" y="5970984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upward-trend-business-growth-chart-modern-minimalist-d-trending-bar-graph-showing-success-dark-background-375926067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444" r="1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Impact, Not Just Engagement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Measurable outcomes that matter to institutions and learners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43063"/>
            <a:ext cx="5629275" cy="1990725"/>
          </a:xfrm>
          <a:custGeom>
            <a:avLst/>
            <a:gdLst/>
            <a:ahLst/>
            <a:cxnLst/>
            <a:rect l="l" t="t" r="r" b="b"/>
            <a:pathLst>
              <a:path w="5629275" h="1990725">
                <a:moveTo>
                  <a:pt x="152410" y="0"/>
                </a:moveTo>
                <a:lnTo>
                  <a:pt x="5476865" y="0"/>
                </a:lnTo>
                <a:cubicBezTo>
                  <a:pt x="5561039" y="0"/>
                  <a:pt x="5629275" y="68236"/>
                  <a:pt x="5629275" y="152410"/>
                </a:cubicBezTo>
                <a:lnTo>
                  <a:pt x="5629275" y="1838315"/>
                </a:lnTo>
                <a:cubicBezTo>
                  <a:pt x="5629275" y="1922489"/>
                  <a:pt x="5561039" y="1990725"/>
                  <a:pt x="5476865" y="1990725"/>
                </a:cubicBezTo>
                <a:lnTo>
                  <a:pt x="152410" y="1990725"/>
                </a:lnTo>
                <a:cubicBezTo>
                  <a:pt x="68236" y="1990725"/>
                  <a:pt x="0" y="1922489"/>
                  <a:pt x="0" y="18383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125" y="21812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19150" y="24098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42875"/>
                </a:moveTo>
                <a:cubicBezTo>
                  <a:pt x="327094" y="142875"/>
                  <a:pt x="314325" y="130106"/>
                  <a:pt x="314325" y="114300"/>
                </a:cubicBezTo>
                <a:cubicBezTo>
                  <a:pt x="314325" y="98494"/>
                  <a:pt x="327094" y="85725"/>
                  <a:pt x="342900" y="85725"/>
                </a:cubicBezTo>
                <a:lnTo>
                  <a:pt x="485775" y="85725"/>
                </a:lnTo>
                <a:cubicBezTo>
                  <a:pt x="501581" y="85725"/>
                  <a:pt x="514350" y="98494"/>
                  <a:pt x="514350" y="114300"/>
                </a:cubicBezTo>
                <a:lnTo>
                  <a:pt x="514350" y="257175"/>
                </a:lnTo>
                <a:cubicBezTo>
                  <a:pt x="514350" y="272981"/>
                  <a:pt x="501581" y="285750"/>
                  <a:pt x="485775" y="285750"/>
                </a:cubicBezTo>
                <a:cubicBezTo>
                  <a:pt x="469969" y="285750"/>
                  <a:pt x="457200" y="272981"/>
                  <a:pt x="457200" y="257175"/>
                </a:cubicBezTo>
                <a:lnTo>
                  <a:pt x="457200" y="183326"/>
                </a:lnTo>
                <a:lnTo>
                  <a:pt x="305931" y="334595"/>
                </a:lnTo>
                <a:cubicBezTo>
                  <a:pt x="294769" y="345758"/>
                  <a:pt x="276642" y="345758"/>
                  <a:pt x="265480" y="334595"/>
                </a:cubicBezTo>
                <a:lnTo>
                  <a:pt x="171450" y="240476"/>
                </a:lnTo>
                <a:lnTo>
                  <a:pt x="48756" y="363081"/>
                </a:lnTo>
                <a:cubicBezTo>
                  <a:pt x="37594" y="374243"/>
                  <a:pt x="19467" y="374243"/>
                  <a:pt x="8305" y="363081"/>
                </a:cubicBezTo>
                <a:cubicBezTo>
                  <a:pt x="-2857" y="351919"/>
                  <a:pt x="-2857" y="333792"/>
                  <a:pt x="8305" y="322630"/>
                </a:cubicBezTo>
                <a:lnTo>
                  <a:pt x="151180" y="179755"/>
                </a:lnTo>
                <a:cubicBezTo>
                  <a:pt x="162342" y="168593"/>
                  <a:pt x="180469" y="168593"/>
                  <a:pt x="191631" y="179755"/>
                </a:cubicBezTo>
                <a:lnTo>
                  <a:pt x="285750" y="273874"/>
                </a:lnTo>
                <a:lnTo>
                  <a:pt x="416749" y="1428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10" name="Text 7"/>
          <p:cNvSpPr/>
          <p:nvPr/>
        </p:nvSpPr>
        <p:spPr>
          <a:xfrm>
            <a:off x="1762125" y="1876425"/>
            <a:ext cx="1466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62125" y="2524125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Completion Rates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2125" y="2905125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&lt;15% completion to 45-75% with accountability and incentives.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6963" y="1643063"/>
            <a:ext cx="5629275" cy="1990725"/>
          </a:xfrm>
          <a:custGeom>
            <a:avLst/>
            <a:gdLst/>
            <a:ahLst/>
            <a:cxnLst/>
            <a:rect l="l" t="t" r="r" b="b"/>
            <a:pathLst>
              <a:path w="5629275" h="1990725">
                <a:moveTo>
                  <a:pt x="152410" y="0"/>
                </a:moveTo>
                <a:lnTo>
                  <a:pt x="5476865" y="0"/>
                </a:lnTo>
                <a:cubicBezTo>
                  <a:pt x="5561039" y="0"/>
                  <a:pt x="5629275" y="68236"/>
                  <a:pt x="5629275" y="152410"/>
                </a:cubicBezTo>
                <a:lnTo>
                  <a:pt x="5629275" y="1838315"/>
                </a:lnTo>
                <a:cubicBezTo>
                  <a:pt x="5629275" y="1922489"/>
                  <a:pt x="5561039" y="1990725"/>
                  <a:pt x="5476865" y="1990725"/>
                </a:cubicBezTo>
                <a:lnTo>
                  <a:pt x="152410" y="1990725"/>
                </a:lnTo>
                <a:cubicBezTo>
                  <a:pt x="68236" y="1990725"/>
                  <a:pt x="0" y="1922489"/>
                  <a:pt x="0" y="18383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 w="12700">
            <a:solidFill>
              <a:srgbClr val="E9C46A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10325" y="21812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610350" y="24098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28575"/>
                </a:moveTo>
                <a:cubicBezTo>
                  <a:pt x="185023" y="28575"/>
                  <a:pt x="127248" y="61436"/>
                  <a:pt x="85189" y="100548"/>
                </a:cubicBezTo>
                <a:cubicBezTo>
                  <a:pt x="43398" y="139392"/>
                  <a:pt x="15448" y="185738"/>
                  <a:pt x="2143" y="217616"/>
                </a:cubicBezTo>
                <a:cubicBezTo>
                  <a:pt x="-804" y="224671"/>
                  <a:pt x="-804" y="232529"/>
                  <a:pt x="2143" y="239584"/>
                </a:cubicBezTo>
                <a:cubicBezTo>
                  <a:pt x="15448" y="271463"/>
                  <a:pt x="43398" y="317897"/>
                  <a:pt x="85189" y="356652"/>
                </a:cubicBezTo>
                <a:cubicBezTo>
                  <a:pt x="127248" y="395674"/>
                  <a:pt x="185023" y="428625"/>
                  <a:pt x="257175" y="428625"/>
                </a:cubicBezTo>
                <a:cubicBezTo>
                  <a:pt x="329327" y="428625"/>
                  <a:pt x="387102" y="395764"/>
                  <a:pt x="429161" y="356652"/>
                </a:cubicBezTo>
                <a:cubicBezTo>
                  <a:pt x="470952" y="317808"/>
                  <a:pt x="498902" y="271463"/>
                  <a:pt x="512207" y="239584"/>
                </a:cubicBezTo>
                <a:cubicBezTo>
                  <a:pt x="515154" y="232529"/>
                  <a:pt x="515154" y="224671"/>
                  <a:pt x="512207" y="217616"/>
                </a:cubicBezTo>
                <a:cubicBezTo>
                  <a:pt x="498902" y="185737"/>
                  <a:pt x="470952" y="139303"/>
                  <a:pt x="429161" y="100548"/>
                </a:cubicBezTo>
                <a:cubicBezTo>
                  <a:pt x="387102" y="61526"/>
                  <a:pt x="329327" y="28575"/>
                  <a:pt x="257175" y="28575"/>
                </a:cubicBezTo>
                <a:close/>
                <a:moveTo>
                  <a:pt x="128588" y="228600"/>
                </a:moveTo>
                <a:cubicBezTo>
                  <a:pt x="128588" y="157631"/>
                  <a:pt x="186206" y="100013"/>
                  <a:pt x="257175" y="100013"/>
                </a:cubicBezTo>
                <a:cubicBezTo>
                  <a:pt x="328144" y="100013"/>
                  <a:pt x="385763" y="157631"/>
                  <a:pt x="385763" y="228600"/>
                </a:cubicBezTo>
                <a:cubicBezTo>
                  <a:pt x="385763" y="299569"/>
                  <a:pt x="328144" y="357188"/>
                  <a:pt x="257175" y="357188"/>
                </a:cubicBezTo>
                <a:cubicBezTo>
                  <a:pt x="186206" y="357188"/>
                  <a:pt x="128588" y="299569"/>
                  <a:pt x="128588" y="228600"/>
                </a:cubicBezTo>
                <a:close/>
                <a:moveTo>
                  <a:pt x="257175" y="171450"/>
                </a:moveTo>
                <a:cubicBezTo>
                  <a:pt x="257175" y="202972"/>
                  <a:pt x="231547" y="228600"/>
                  <a:pt x="200025" y="228600"/>
                </a:cubicBezTo>
                <a:cubicBezTo>
                  <a:pt x="189756" y="228600"/>
                  <a:pt x="180112" y="225921"/>
                  <a:pt x="171718" y="221099"/>
                </a:cubicBezTo>
                <a:cubicBezTo>
                  <a:pt x="170825" y="230832"/>
                  <a:pt x="171629" y="240834"/>
                  <a:pt x="174308" y="250746"/>
                </a:cubicBezTo>
                <a:cubicBezTo>
                  <a:pt x="186541" y="296466"/>
                  <a:pt x="233601" y="323612"/>
                  <a:pt x="279321" y="311378"/>
                </a:cubicBezTo>
                <a:cubicBezTo>
                  <a:pt x="325041" y="299145"/>
                  <a:pt x="352187" y="252085"/>
                  <a:pt x="339953" y="206365"/>
                </a:cubicBezTo>
                <a:cubicBezTo>
                  <a:pt x="329059" y="165556"/>
                  <a:pt x="290393" y="139571"/>
                  <a:pt x="249674" y="143143"/>
                </a:cubicBezTo>
                <a:cubicBezTo>
                  <a:pt x="254407" y="151448"/>
                  <a:pt x="257175" y="161092"/>
                  <a:pt x="257175" y="17145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6" name="Text 13"/>
          <p:cNvSpPr/>
          <p:nvPr/>
        </p:nvSpPr>
        <p:spPr>
          <a:xfrm>
            <a:off x="7553325" y="1876425"/>
            <a:ext cx="1695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53325" y="2524125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Visibility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53325" y="2905125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transparency into who learned what. Perfect for HR and placement teams.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5763" y="3795713"/>
            <a:ext cx="5629275" cy="1990725"/>
          </a:xfrm>
          <a:custGeom>
            <a:avLst/>
            <a:gdLst/>
            <a:ahLst/>
            <a:cxnLst/>
            <a:rect l="l" t="t" r="r" b="b"/>
            <a:pathLst>
              <a:path w="5629275" h="1990725">
                <a:moveTo>
                  <a:pt x="152410" y="0"/>
                </a:moveTo>
                <a:lnTo>
                  <a:pt x="5476865" y="0"/>
                </a:lnTo>
                <a:cubicBezTo>
                  <a:pt x="5561039" y="0"/>
                  <a:pt x="5629275" y="68236"/>
                  <a:pt x="5629275" y="152410"/>
                </a:cubicBezTo>
                <a:lnTo>
                  <a:pt x="5629275" y="1838315"/>
                </a:lnTo>
                <a:cubicBezTo>
                  <a:pt x="5629275" y="1922489"/>
                  <a:pt x="5561039" y="1990725"/>
                  <a:pt x="5476865" y="1990725"/>
                </a:cubicBezTo>
                <a:lnTo>
                  <a:pt x="152410" y="1990725"/>
                </a:lnTo>
                <a:cubicBezTo>
                  <a:pt x="68236" y="1990725"/>
                  <a:pt x="0" y="1922489"/>
                  <a:pt x="0" y="18383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9125" y="43338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76300" y="456247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57150"/>
                </a:moveTo>
                <a:cubicBezTo>
                  <a:pt x="0" y="41344"/>
                  <a:pt x="12769" y="28575"/>
                  <a:pt x="28575" y="28575"/>
                </a:cubicBezTo>
                <a:lnTo>
                  <a:pt x="100013" y="28575"/>
                </a:lnTo>
                <a:cubicBezTo>
                  <a:pt x="171004" y="28575"/>
                  <a:pt x="228600" y="86171"/>
                  <a:pt x="228600" y="157163"/>
                </a:cubicBezTo>
                <a:cubicBezTo>
                  <a:pt x="228600" y="205651"/>
                  <a:pt x="201811" y="247799"/>
                  <a:pt x="162163" y="269766"/>
                </a:cubicBezTo>
                <a:lnTo>
                  <a:pt x="198775" y="391835"/>
                </a:lnTo>
                <a:cubicBezTo>
                  <a:pt x="203329" y="406926"/>
                  <a:pt x="194756" y="422910"/>
                  <a:pt x="179576" y="427375"/>
                </a:cubicBezTo>
                <a:cubicBezTo>
                  <a:pt x="164396" y="431840"/>
                  <a:pt x="148501" y="423356"/>
                  <a:pt x="144036" y="408176"/>
                </a:cubicBezTo>
                <a:lnTo>
                  <a:pt x="107246" y="285571"/>
                </a:lnTo>
                <a:cubicBezTo>
                  <a:pt x="104835" y="285661"/>
                  <a:pt x="102424" y="285750"/>
                  <a:pt x="100013" y="285750"/>
                </a:cubicBezTo>
                <a:lnTo>
                  <a:pt x="57150" y="285750"/>
                </a:lnTo>
                <a:lnTo>
                  <a:pt x="57150" y="400050"/>
                </a:lnTo>
                <a:cubicBezTo>
                  <a:pt x="57150" y="415856"/>
                  <a:pt x="44381" y="428625"/>
                  <a:pt x="28575" y="428625"/>
                </a:cubicBezTo>
                <a:cubicBezTo>
                  <a:pt x="12769" y="428625"/>
                  <a:pt x="0" y="415856"/>
                  <a:pt x="0" y="400050"/>
                </a:cubicBezTo>
                <a:lnTo>
                  <a:pt x="0" y="57150"/>
                </a:lnTo>
                <a:close/>
                <a:moveTo>
                  <a:pt x="57150" y="228600"/>
                </a:moveTo>
                <a:lnTo>
                  <a:pt x="100013" y="228600"/>
                </a:lnTo>
                <a:cubicBezTo>
                  <a:pt x="139482" y="228600"/>
                  <a:pt x="171450" y="196632"/>
                  <a:pt x="171450" y="157163"/>
                </a:cubicBezTo>
                <a:cubicBezTo>
                  <a:pt x="171450" y="117693"/>
                  <a:pt x="139482" y="85725"/>
                  <a:pt x="100013" y="85725"/>
                </a:cubicBezTo>
                <a:lnTo>
                  <a:pt x="57150" y="85725"/>
                </a:lnTo>
                <a:lnTo>
                  <a:pt x="57150" y="228600"/>
                </a:lnTo>
                <a:close/>
                <a:moveTo>
                  <a:pt x="311735" y="200025"/>
                </a:moveTo>
                <a:lnTo>
                  <a:pt x="342900" y="200025"/>
                </a:lnTo>
                <a:cubicBezTo>
                  <a:pt x="358706" y="200025"/>
                  <a:pt x="371475" y="212794"/>
                  <a:pt x="371475" y="228600"/>
                </a:cubicBezTo>
                <a:cubicBezTo>
                  <a:pt x="371475" y="244406"/>
                  <a:pt x="358706" y="257175"/>
                  <a:pt x="342900" y="257175"/>
                </a:cubicBezTo>
                <a:lnTo>
                  <a:pt x="311735" y="257175"/>
                </a:lnTo>
                <a:cubicBezTo>
                  <a:pt x="305306" y="257175"/>
                  <a:pt x="300038" y="262444"/>
                  <a:pt x="300038" y="268873"/>
                </a:cubicBezTo>
                <a:cubicBezTo>
                  <a:pt x="300038" y="273963"/>
                  <a:pt x="303341" y="278428"/>
                  <a:pt x="308164" y="280035"/>
                </a:cubicBezTo>
                <a:lnTo>
                  <a:pt x="352276" y="294233"/>
                </a:lnTo>
                <a:cubicBezTo>
                  <a:pt x="380762" y="303431"/>
                  <a:pt x="400050" y="329863"/>
                  <a:pt x="400050" y="359777"/>
                </a:cubicBezTo>
                <a:cubicBezTo>
                  <a:pt x="400050" y="397818"/>
                  <a:pt x="369243" y="428625"/>
                  <a:pt x="331202" y="428625"/>
                </a:cubicBezTo>
                <a:lnTo>
                  <a:pt x="285750" y="428625"/>
                </a:lnTo>
                <a:cubicBezTo>
                  <a:pt x="269944" y="428625"/>
                  <a:pt x="257175" y="415856"/>
                  <a:pt x="257175" y="400050"/>
                </a:cubicBezTo>
                <a:cubicBezTo>
                  <a:pt x="257175" y="384244"/>
                  <a:pt x="269944" y="371475"/>
                  <a:pt x="285750" y="371475"/>
                </a:cubicBezTo>
                <a:lnTo>
                  <a:pt x="331202" y="371475"/>
                </a:lnTo>
                <a:cubicBezTo>
                  <a:pt x="337631" y="371475"/>
                  <a:pt x="342900" y="366206"/>
                  <a:pt x="342900" y="359777"/>
                </a:cubicBezTo>
                <a:cubicBezTo>
                  <a:pt x="342900" y="354687"/>
                  <a:pt x="339596" y="350222"/>
                  <a:pt x="334774" y="348615"/>
                </a:cubicBezTo>
                <a:lnTo>
                  <a:pt x="290661" y="334417"/>
                </a:lnTo>
                <a:cubicBezTo>
                  <a:pt x="262176" y="325219"/>
                  <a:pt x="242888" y="298787"/>
                  <a:pt x="242888" y="268873"/>
                </a:cubicBezTo>
                <a:cubicBezTo>
                  <a:pt x="242888" y="230832"/>
                  <a:pt x="273695" y="200025"/>
                  <a:pt x="311735" y="200025"/>
                </a:cubicBez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1762125" y="4029075"/>
            <a:ext cx="904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62125" y="4676775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on Learning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762125" y="5057775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rupee spent on courses actually delivers measurable skill development.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6963" y="3795713"/>
            <a:ext cx="5629275" cy="1990725"/>
          </a:xfrm>
          <a:custGeom>
            <a:avLst/>
            <a:gdLst/>
            <a:ahLst/>
            <a:cxnLst/>
            <a:rect l="l" t="t" r="r" b="b"/>
            <a:pathLst>
              <a:path w="5629275" h="1990725">
                <a:moveTo>
                  <a:pt x="152410" y="0"/>
                </a:moveTo>
                <a:lnTo>
                  <a:pt x="5476865" y="0"/>
                </a:lnTo>
                <a:cubicBezTo>
                  <a:pt x="5561039" y="0"/>
                  <a:pt x="5629275" y="68236"/>
                  <a:pt x="5629275" y="152410"/>
                </a:cubicBezTo>
                <a:lnTo>
                  <a:pt x="5629275" y="1838315"/>
                </a:lnTo>
                <a:cubicBezTo>
                  <a:pt x="5629275" y="1922489"/>
                  <a:pt x="5561039" y="1990725"/>
                  <a:pt x="5476865" y="1990725"/>
                </a:cubicBezTo>
                <a:lnTo>
                  <a:pt x="152410" y="1990725"/>
                </a:lnTo>
                <a:cubicBezTo>
                  <a:pt x="68236" y="1990725"/>
                  <a:pt x="0" y="1922489"/>
                  <a:pt x="0" y="1838315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10325" y="433387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667500" y="4562475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43321" y="-23574"/>
                </a:moveTo>
                <a:cubicBezTo>
                  <a:pt x="151626" y="-30540"/>
                  <a:pt x="163860" y="-30272"/>
                  <a:pt x="171807" y="-22771"/>
                </a:cubicBezTo>
                <a:cubicBezTo>
                  <a:pt x="182791" y="-12412"/>
                  <a:pt x="192613" y="-982"/>
                  <a:pt x="202079" y="10626"/>
                </a:cubicBezTo>
                <a:cubicBezTo>
                  <a:pt x="214134" y="25360"/>
                  <a:pt x="228600" y="44827"/>
                  <a:pt x="242530" y="67955"/>
                </a:cubicBezTo>
                <a:cubicBezTo>
                  <a:pt x="247174" y="61883"/>
                  <a:pt x="251460" y="56525"/>
                  <a:pt x="255210" y="51971"/>
                </a:cubicBezTo>
                <a:cubicBezTo>
                  <a:pt x="256193" y="50810"/>
                  <a:pt x="257175" y="49560"/>
                  <a:pt x="258157" y="48310"/>
                </a:cubicBezTo>
                <a:cubicBezTo>
                  <a:pt x="265212" y="39559"/>
                  <a:pt x="273963" y="28575"/>
                  <a:pt x="285661" y="28575"/>
                </a:cubicBezTo>
                <a:cubicBezTo>
                  <a:pt x="297626" y="28575"/>
                  <a:pt x="306020" y="39201"/>
                  <a:pt x="313164" y="48310"/>
                </a:cubicBezTo>
                <a:cubicBezTo>
                  <a:pt x="314325" y="49828"/>
                  <a:pt x="315486" y="51256"/>
                  <a:pt x="316647" y="52596"/>
                </a:cubicBezTo>
                <a:cubicBezTo>
                  <a:pt x="325844" y="63669"/>
                  <a:pt x="338078" y="79653"/>
                  <a:pt x="350312" y="99387"/>
                </a:cubicBezTo>
                <a:cubicBezTo>
                  <a:pt x="374600" y="138589"/>
                  <a:pt x="399961" y="194399"/>
                  <a:pt x="399961" y="257086"/>
                </a:cubicBezTo>
                <a:cubicBezTo>
                  <a:pt x="399961" y="367546"/>
                  <a:pt x="310396" y="457111"/>
                  <a:pt x="199936" y="457111"/>
                </a:cubicBezTo>
                <a:cubicBezTo>
                  <a:pt x="89475" y="457111"/>
                  <a:pt x="0" y="367635"/>
                  <a:pt x="0" y="257175"/>
                </a:cubicBezTo>
                <a:cubicBezTo>
                  <a:pt x="0" y="175826"/>
                  <a:pt x="36701" y="105370"/>
                  <a:pt x="71884" y="56257"/>
                </a:cubicBezTo>
                <a:cubicBezTo>
                  <a:pt x="89654" y="31522"/>
                  <a:pt x="107335" y="11698"/>
                  <a:pt x="120640" y="-1875"/>
                </a:cubicBezTo>
                <a:cubicBezTo>
                  <a:pt x="127962" y="-9376"/>
                  <a:pt x="135374" y="-16788"/>
                  <a:pt x="143411" y="-23485"/>
                </a:cubicBezTo>
                <a:close/>
                <a:moveTo>
                  <a:pt x="201543" y="371475"/>
                </a:moveTo>
                <a:cubicBezTo>
                  <a:pt x="224135" y="371475"/>
                  <a:pt x="244138" y="365224"/>
                  <a:pt x="262979" y="352723"/>
                </a:cubicBezTo>
                <a:cubicBezTo>
                  <a:pt x="300573" y="326469"/>
                  <a:pt x="310664" y="273963"/>
                  <a:pt x="288072" y="232708"/>
                </a:cubicBezTo>
                <a:cubicBezTo>
                  <a:pt x="284053" y="224671"/>
                  <a:pt x="273784" y="224135"/>
                  <a:pt x="267980" y="230922"/>
                </a:cubicBezTo>
                <a:lnTo>
                  <a:pt x="245477" y="257086"/>
                </a:lnTo>
                <a:cubicBezTo>
                  <a:pt x="239584" y="263872"/>
                  <a:pt x="228957" y="263694"/>
                  <a:pt x="223421" y="256639"/>
                </a:cubicBezTo>
                <a:cubicBezTo>
                  <a:pt x="207972" y="236905"/>
                  <a:pt x="179576" y="200918"/>
                  <a:pt x="165110" y="182523"/>
                </a:cubicBezTo>
                <a:cubicBezTo>
                  <a:pt x="160288" y="176361"/>
                  <a:pt x="151537" y="175379"/>
                  <a:pt x="145911" y="180826"/>
                </a:cubicBezTo>
                <a:cubicBezTo>
                  <a:pt x="129570" y="196721"/>
                  <a:pt x="99923" y="231547"/>
                  <a:pt x="99923" y="273963"/>
                </a:cubicBezTo>
                <a:cubicBezTo>
                  <a:pt x="99923" y="335220"/>
                  <a:pt x="145107" y="371475"/>
                  <a:pt x="201454" y="37147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5"/>
          <p:cNvSpPr/>
          <p:nvPr/>
        </p:nvSpPr>
        <p:spPr>
          <a:xfrm>
            <a:off x="7553325" y="4029075"/>
            <a:ext cx="1457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53325" y="4676775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Boost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53325" y="5057775"/>
            <a:ext cx="4095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Sustained daily learning habits replace sporadic, abandoned attempts.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85763" y="5948363"/>
            <a:ext cx="11420475" cy="581025"/>
          </a:xfrm>
          <a:custGeom>
            <a:avLst/>
            <a:gdLst/>
            <a:ahLst/>
            <a:cxnLst/>
            <a:rect l="l" t="t" r="r" b="b"/>
            <a:pathLst>
              <a:path w="11420475" h="581025">
                <a:moveTo>
                  <a:pt x="114299" y="0"/>
                </a:moveTo>
                <a:lnTo>
                  <a:pt x="11306176" y="0"/>
                </a:lnTo>
                <a:cubicBezTo>
                  <a:pt x="11369301" y="0"/>
                  <a:pt x="11420475" y="51174"/>
                  <a:pt x="11420475" y="114299"/>
                </a:cubicBezTo>
                <a:lnTo>
                  <a:pt x="11420475" y="466726"/>
                </a:lnTo>
                <a:cubicBezTo>
                  <a:pt x="11420475" y="529851"/>
                  <a:pt x="11369301" y="581025"/>
                  <a:pt x="11306176" y="581025"/>
                </a:cubicBezTo>
                <a:lnTo>
                  <a:pt x="114299" y="581025"/>
                </a:lnTo>
                <a:cubicBezTo>
                  <a:pt x="51174" y="581025"/>
                  <a:pt x="0" y="529851"/>
                  <a:pt x="0" y="4667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9C46A">
              <a:alpha val="10196"/>
            </a:srgbClr>
          </a:solidFill>
          <a:ln w="12700">
            <a:solidFill>
              <a:srgbClr val="E9C46A">
                <a:alpha val="30196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177704" y="6143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3" name="Text 30"/>
          <p:cNvSpPr/>
          <p:nvPr/>
        </p:nvSpPr>
        <p:spPr>
          <a:xfrm>
            <a:off x="3506316" y="6105525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Data-backed results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332437" y="6143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5" name="Text 32"/>
          <p:cNvSpPr/>
          <p:nvPr/>
        </p:nvSpPr>
        <p:spPr>
          <a:xfrm>
            <a:off x="5661050" y="610552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methodology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38219" y="6143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7" name="Text 34"/>
          <p:cNvSpPr/>
          <p:nvPr/>
        </p:nvSpPr>
        <p:spPr>
          <a:xfrm>
            <a:off x="7866831" y="61055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impact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5083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spc="12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83664"/>
            <a:ext cx="1166026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813" y="1215402"/>
            <a:ext cx="1152732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revenue streams, recurring income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9308" y="1642692"/>
            <a:ext cx="3665196" cy="4405832"/>
          </a:xfrm>
          <a:custGeom>
            <a:avLst/>
            <a:gdLst/>
            <a:ahLst/>
            <a:cxnLst/>
            <a:rect l="l" t="t" r="r" b="b"/>
            <a:pathLst>
              <a:path w="3665196" h="4405832">
                <a:moveTo>
                  <a:pt x="151922" y="0"/>
                </a:moveTo>
                <a:lnTo>
                  <a:pt x="3513274" y="0"/>
                </a:lnTo>
                <a:cubicBezTo>
                  <a:pt x="3597122" y="0"/>
                  <a:pt x="3665196" y="68074"/>
                  <a:pt x="3665196" y="151922"/>
                </a:cubicBezTo>
                <a:lnTo>
                  <a:pt x="3665196" y="4253909"/>
                </a:lnTo>
                <a:cubicBezTo>
                  <a:pt x="3665196" y="4337758"/>
                  <a:pt x="3597122" y="4405832"/>
                  <a:pt x="3513274" y="4405832"/>
                </a:cubicBezTo>
                <a:lnTo>
                  <a:pt x="151922" y="4405832"/>
                </a:lnTo>
                <a:cubicBezTo>
                  <a:pt x="68074" y="4405832"/>
                  <a:pt x="0" y="4337758"/>
                  <a:pt x="0" y="4253909"/>
                </a:cubicBezTo>
                <a:lnTo>
                  <a:pt x="0" y="151922"/>
                </a:lnTo>
                <a:cubicBezTo>
                  <a:pt x="0" y="68074"/>
                  <a:pt x="68074" y="0"/>
                  <a:pt x="151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50000"/>
                </a:srgbClr>
              </a:gs>
              <a:gs pos="100000">
                <a:srgbClr val="3D8F8A">
                  <a:alpha val="20000"/>
                </a:srgbClr>
              </a:gs>
            </a:gsLst>
            <a:lin ang="5400000" scaled="1"/>
          </a:gradFill>
          <a:ln w="25400">
            <a:solidFill>
              <a:srgbClr val="3D8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692" y="1880075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51925" y="0"/>
                </a:moveTo>
                <a:lnTo>
                  <a:pt x="455776" y="0"/>
                </a:lnTo>
                <a:cubicBezTo>
                  <a:pt x="539626" y="0"/>
                  <a:pt x="607701" y="68075"/>
                  <a:pt x="607701" y="151925"/>
                </a:cubicBezTo>
                <a:lnTo>
                  <a:pt x="607701" y="455776"/>
                </a:lnTo>
                <a:cubicBezTo>
                  <a:pt x="607701" y="539626"/>
                  <a:pt x="539626" y="607701"/>
                  <a:pt x="455776" y="607701"/>
                </a:cubicBezTo>
                <a:lnTo>
                  <a:pt x="151925" y="607701"/>
                </a:lnTo>
                <a:cubicBezTo>
                  <a:pt x="68075" y="607701"/>
                  <a:pt x="0" y="539626"/>
                  <a:pt x="0" y="455776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808290" y="2041495"/>
            <a:ext cx="249252" cy="284860"/>
          </a:xfrm>
          <a:custGeom>
            <a:avLst/>
            <a:gdLst/>
            <a:ahLst/>
            <a:cxnLst/>
            <a:rect l="l" t="t" r="r" b="b"/>
            <a:pathLst>
              <a:path w="249252" h="284860">
                <a:moveTo>
                  <a:pt x="134251" y="-7233"/>
                </a:moveTo>
                <a:cubicBezTo>
                  <a:pt x="127909" y="-8512"/>
                  <a:pt x="121399" y="-8512"/>
                  <a:pt x="115057" y="-7233"/>
                </a:cubicBezTo>
                <a:lnTo>
                  <a:pt x="10738" y="13631"/>
                </a:lnTo>
                <a:cubicBezTo>
                  <a:pt x="4507" y="14855"/>
                  <a:pt x="0" y="20363"/>
                  <a:pt x="0" y="26706"/>
                </a:cubicBezTo>
                <a:cubicBezTo>
                  <a:pt x="0" y="32436"/>
                  <a:pt x="3616" y="37443"/>
                  <a:pt x="8902" y="39279"/>
                </a:cubicBezTo>
                <a:lnTo>
                  <a:pt x="8902" y="80117"/>
                </a:lnTo>
                <a:lnTo>
                  <a:pt x="167" y="123847"/>
                </a:lnTo>
                <a:cubicBezTo>
                  <a:pt x="56" y="124348"/>
                  <a:pt x="0" y="124904"/>
                  <a:pt x="0" y="125461"/>
                </a:cubicBezTo>
                <a:cubicBezTo>
                  <a:pt x="0" y="129912"/>
                  <a:pt x="3616" y="133584"/>
                  <a:pt x="8123" y="133584"/>
                </a:cubicBezTo>
                <a:lnTo>
                  <a:pt x="27540" y="133584"/>
                </a:lnTo>
                <a:cubicBezTo>
                  <a:pt x="31991" y="133584"/>
                  <a:pt x="35663" y="129967"/>
                  <a:pt x="35663" y="125461"/>
                </a:cubicBezTo>
                <a:cubicBezTo>
                  <a:pt x="35663" y="124904"/>
                  <a:pt x="35607" y="124404"/>
                  <a:pt x="35496" y="123847"/>
                </a:cubicBezTo>
                <a:lnTo>
                  <a:pt x="26706" y="80117"/>
                </a:lnTo>
                <a:lnTo>
                  <a:pt x="26706" y="43007"/>
                </a:lnTo>
                <a:lnTo>
                  <a:pt x="53411" y="48348"/>
                </a:lnTo>
                <a:lnTo>
                  <a:pt x="53411" y="80117"/>
                </a:lnTo>
                <a:cubicBezTo>
                  <a:pt x="53411" y="119452"/>
                  <a:pt x="85291" y="151332"/>
                  <a:pt x="124626" y="151332"/>
                </a:cubicBezTo>
                <a:cubicBezTo>
                  <a:pt x="163961" y="151332"/>
                  <a:pt x="195841" y="119452"/>
                  <a:pt x="195841" y="80117"/>
                </a:cubicBezTo>
                <a:lnTo>
                  <a:pt x="195841" y="48348"/>
                </a:lnTo>
                <a:lnTo>
                  <a:pt x="238514" y="39836"/>
                </a:lnTo>
                <a:cubicBezTo>
                  <a:pt x="244746" y="38556"/>
                  <a:pt x="249252" y="33048"/>
                  <a:pt x="249252" y="26706"/>
                </a:cubicBezTo>
                <a:cubicBezTo>
                  <a:pt x="249252" y="20363"/>
                  <a:pt x="244746" y="14855"/>
                  <a:pt x="238514" y="13631"/>
                </a:cubicBezTo>
                <a:lnTo>
                  <a:pt x="134251" y="-7233"/>
                </a:lnTo>
                <a:close/>
                <a:moveTo>
                  <a:pt x="124626" y="124626"/>
                </a:moveTo>
                <a:cubicBezTo>
                  <a:pt x="100035" y="124626"/>
                  <a:pt x="80117" y="104708"/>
                  <a:pt x="80117" y="80117"/>
                </a:cubicBezTo>
                <a:lnTo>
                  <a:pt x="169136" y="80117"/>
                </a:lnTo>
                <a:cubicBezTo>
                  <a:pt x="169136" y="104708"/>
                  <a:pt x="149218" y="124626"/>
                  <a:pt x="124626" y="124626"/>
                </a:cubicBezTo>
                <a:close/>
                <a:moveTo>
                  <a:pt x="66820" y="178093"/>
                </a:moveTo>
                <a:cubicBezTo>
                  <a:pt x="32659" y="193783"/>
                  <a:pt x="8902" y="228277"/>
                  <a:pt x="8902" y="268336"/>
                </a:cubicBezTo>
                <a:cubicBezTo>
                  <a:pt x="8902" y="277460"/>
                  <a:pt x="16302" y="284860"/>
                  <a:pt x="25426" y="284860"/>
                </a:cubicBezTo>
                <a:lnTo>
                  <a:pt x="111273" y="284860"/>
                </a:lnTo>
                <a:lnTo>
                  <a:pt x="111273" y="203630"/>
                </a:lnTo>
                <a:lnTo>
                  <a:pt x="79338" y="179706"/>
                </a:lnTo>
                <a:cubicBezTo>
                  <a:pt x="75722" y="176980"/>
                  <a:pt x="70881" y="176257"/>
                  <a:pt x="66764" y="178149"/>
                </a:cubicBezTo>
                <a:close/>
                <a:moveTo>
                  <a:pt x="137979" y="284860"/>
                </a:moveTo>
                <a:lnTo>
                  <a:pt x="223826" y="284860"/>
                </a:lnTo>
                <a:cubicBezTo>
                  <a:pt x="232951" y="284860"/>
                  <a:pt x="240350" y="277460"/>
                  <a:pt x="240350" y="268336"/>
                </a:cubicBezTo>
                <a:cubicBezTo>
                  <a:pt x="240350" y="228277"/>
                  <a:pt x="216594" y="193783"/>
                  <a:pt x="182433" y="178149"/>
                </a:cubicBezTo>
                <a:cubicBezTo>
                  <a:pt x="178316" y="176257"/>
                  <a:pt x="173475" y="176980"/>
                  <a:pt x="169859" y="179706"/>
                </a:cubicBezTo>
                <a:lnTo>
                  <a:pt x="137923" y="203630"/>
                </a:lnTo>
                <a:lnTo>
                  <a:pt x="137923" y="28486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Shape 6"/>
          <p:cNvSpPr/>
          <p:nvPr/>
        </p:nvSpPr>
        <p:spPr>
          <a:xfrm>
            <a:off x="2974337" y="1994019"/>
            <a:ext cx="845084" cy="379813"/>
          </a:xfrm>
          <a:custGeom>
            <a:avLst/>
            <a:gdLst/>
            <a:ahLst/>
            <a:cxnLst/>
            <a:rect l="l" t="t" r="r" b="b"/>
            <a:pathLst>
              <a:path w="845084" h="379813">
                <a:moveTo>
                  <a:pt x="189907" y="0"/>
                </a:moveTo>
                <a:lnTo>
                  <a:pt x="655178" y="0"/>
                </a:lnTo>
                <a:cubicBezTo>
                  <a:pt x="760060" y="0"/>
                  <a:pt x="845084" y="85024"/>
                  <a:pt x="845084" y="189907"/>
                </a:cubicBezTo>
                <a:lnTo>
                  <a:pt x="845084" y="189907"/>
                </a:lnTo>
                <a:cubicBezTo>
                  <a:pt x="845084" y="294789"/>
                  <a:pt x="760060" y="379813"/>
                  <a:pt x="655178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126262" y="2112710"/>
            <a:ext cx="603992" cy="147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692" y="2639701"/>
            <a:ext cx="3332860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Per-Student Pricing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692" y="2972037"/>
            <a:ext cx="2380434" cy="816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86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₹12,000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692" y="3693682"/>
            <a:ext cx="1231945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/student/year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692" y="4082991"/>
            <a:ext cx="3266393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Individual institutions pay per active student. Scales with enrollment. Annual contracts ensure predictable revenue.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5682" y="501353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Text 13"/>
          <p:cNvSpPr/>
          <p:nvPr/>
        </p:nvSpPr>
        <p:spPr>
          <a:xfrm>
            <a:off x="930542" y="4975551"/>
            <a:ext cx="173764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5682" y="531738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5"/>
          <p:cNvSpPr/>
          <p:nvPr/>
        </p:nvSpPr>
        <p:spPr>
          <a:xfrm>
            <a:off x="930542" y="5279402"/>
            <a:ext cx="176613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Scales with student count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5682" y="562123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9" name="Text 17"/>
          <p:cNvSpPr/>
          <p:nvPr/>
        </p:nvSpPr>
        <p:spPr>
          <a:xfrm>
            <a:off x="930542" y="5583252"/>
            <a:ext cx="136732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retention rates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1992" y="1642692"/>
            <a:ext cx="3665196" cy="4405832"/>
          </a:xfrm>
          <a:custGeom>
            <a:avLst/>
            <a:gdLst/>
            <a:ahLst/>
            <a:cxnLst/>
            <a:rect l="l" t="t" r="r" b="b"/>
            <a:pathLst>
              <a:path w="3665196" h="4405832">
                <a:moveTo>
                  <a:pt x="151922" y="0"/>
                </a:moveTo>
                <a:lnTo>
                  <a:pt x="3513274" y="0"/>
                </a:lnTo>
                <a:cubicBezTo>
                  <a:pt x="3597122" y="0"/>
                  <a:pt x="3665196" y="68074"/>
                  <a:pt x="3665196" y="151922"/>
                </a:cubicBezTo>
                <a:lnTo>
                  <a:pt x="3665196" y="4253909"/>
                </a:lnTo>
                <a:cubicBezTo>
                  <a:pt x="3665196" y="4337758"/>
                  <a:pt x="3597122" y="4405832"/>
                  <a:pt x="3513274" y="4405832"/>
                </a:cubicBezTo>
                <a:lnTo>
                  <a:pt x="151922" y="4405832"/>
                </a:lnTo>
                <a:cubicBezTo>
                  <a:pt x="68074" y="4405832"/>
                  <a:pt x="0" y="4337758"/>
                  <a:pt x="0" y="4253909"/>
                </a:cubicBezTo>
                <a:lnTo>
                  <a:pt x="0" y="151922"/>
                </a:lnTo>
                <a:cubicBezTo>
                  <a:pt x="0" y="68074"/>
                  <a:pt x="68074" y="0"/>
                  <a:pt x="151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50000"/>
                </a:srgbClr>
              </a:gs>
              <a:gs pos="100000">
                <a:srgbClr val="E9C46A">
                  <a:alpha val="20000"/>
                </a:srgbClr>
              </a:gs>
            </a:gsLst>
            <a:lin ang="5400000" scaled="1"/>
          </a:gradFill>
          <a:ln w="2540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9376" y="1880075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51925" y="0"/>
                </a:moveTo>
                <a:lnTo>
                  <a:pt x="455776" y="0"/>
                </a:lnTo>
                <a:cubicBezTo>
                  <a:pt x="539626" y="0"/>
                  <a:pt x="607701" y="68075"/>
                  <a:pt x="607701" y="151925"/>
                </a:cubicBezTo>
                <a:lnTo>
                  <a:pt x="607701" y="455776"/>
                </a:lnTo>
                <a:cubicBezTo>
                  <a:pt x="607701" y="539626"/>
                  <a:pt x="539626" y="607701"/>
                  <a:pt x="455776" y="607701"/>
                </a:cubicBezTo>
                <a:lnTo>
                  <a:pt x="151925" y="607701"/>
                </a:lnTo>
                <a:cubicBezTo>
                  <a:pt x="68075" y="607701"/>
                  <a:pt x="0" y="539626"/>
                  <a:pt x="0" y="455776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2" name="Shape 20"/>
          <p:cNvSpPr/>
          <p:nvPr/>
        </p:nvSpPr>
        <p:spPr>
          <a:xfrm>
            <a:off x="4698777" y="2041495"/>
            <a:ext cx="213645" cy="284860"/>
          </a:xfrm>
          <a:custGeom>
            <a:avLst/>
            <a:gdLst/>
            <a:ahLst/>
            <a:cxnLst/>
            <a:rect l="l" t="t" r="r" b="b"/>
            <a:pathLst>
              <a:path w="213645" h="284860">
                <a:moveTo>
                  <a:pt x="35607" y="0"/>
                </a:moveTo>
                <a:cubicBezTo>
                  <a:pt x="15968" y="0"/>
                  <a:pt x="0" y="15968"/>
                  <a:pt x="0" y="35607"/>
                </a:cubicBezTo>
                <a:lnTo>
                  <a:pt x="0" y="249252"/>
                </a:lnTo>
                <a:cubicBezTo>
                  <a:pt x="0" y="268892"/>
                  <a:pt x="15968" y="284860"/>
                  <a:pt x="35607" y="284860"/>
                </a:cubicBezTo>
                <a:lnTo>
                  <a:pt x="178037" y="284860"/>
                </a:lnTo>
                <a:cubicBezTo>
                  <a:pt x="197677" y="284860"/>
                  <a:pt x="213645" y="268892"/>
                  <a:pt x="213645" y="249252"/>
                </a:cubicBezTo>
                <a:lnTo>
                  <a:pt x="213645" y="35607"/>
                </a:lnTo>
                <a:cubicBezTo>
                  <a:pt x="213645" y="15968"/>
                  <a:pt x="197677" y="0"/>
                  <a:pt x="178037" y="0"/>
                </a:cubicBezTo>
                <a:lnTo>
                  <a:pt x="35607" y="0"/>
                </a:lnTo>
                <a:close/>
                <a:moveTo>
                  <a:pt x="97921" y="195841"/>
                </a:moveTo>
                <a:lnTo>
                  <a:pt x="115724" y="195841"/>
                </a:lnTo>
                <a:cubicBezTo>
                  <a:pt x="125572" y="195841"/>
                  <a:pt x="133528" y="203797"/>
                  <a:pt x="133528" y="213645"/>
                </a:cubicBezTo>
                <a:lnTo>
                  <a:pt x="133528" y="258154"/>
                </a:lnTo>
                <a:lnTo>
                  <a:pt x="80117" y="258154"/>
                </a:lnTo>
                <a:lnTo>
                  <a:pt x="80117" y="213645"/>
                </a:lnTo>
                <a:cubicBezTo>
                  <a:pt x="80117" y="203797"/>
                  <a:pt x="88073" y="195841"/>
                  <a:pt x="97921" y="195841"/>
                </a:cubicBezTo>
                <a:close/>
                <a:moveTo>
                  <a:pt x="53411" y="62313"/>
                </a:moveTo>
                <a:cubicBezTo>
                  <a:pt x="53411" y="57417"/>
                  <a:pt x="57417" y="53411"/>
                  <a:pt x="62313" y="53411"/>
                </a:cubicBezTo>
                <a:lnTo>
                  <a:pt x="80117" y="53411"/>
                </a:lnTo>
                <a:cubicBezTo>
                  <a:pt x="85013" y="53411"/>
                  <a:pt x="89019" y="57417"/>
                  <a:pt x="89019" y="62313"/>
                </a:cubicBezTo>
                <a:lnTo>
                  <a:pt x="89019" y="80117"/>
                </a:lnTo>
                <a:cubicBezTo>
                  <a:pt x="89019" y="85013"/>
                  <a:pt x="85013" y="89019"/>
                  <a:pt x="80117" y="89019"/>
                </a:cubicBezTo>
                <a:lnTo>
                  <a:pt x="62313" y="89019"/>
                </a:lnTo>
                <a:cubicBezTo>
                  <a:pt x="57417" y="89019"/>
                  <a:pt x="53411" y="85013"/>
                  <a:pt x="53411" y="80117"/>
                </a:cubicBezTo>
                <a:lnTo>
                  <a:pt x="53411" y="62313"/>
                </a:lnTo>
                <a:close/>
                <a:moveTo>
                  <a:pt x="133528" y="53411"/>
                </a:moveTo>
                <a:lnTo>
                  <a:pt x="151332" y="53411"/>
                </a:lnTo>
                <a:cubicBezTo>
                  <a:pt x="156228" y="53411"/>
                  <a:pt x="160234" y="57417"/>
                  <a:pt x="160234" y="62313"/>
                </a:cubicBezTo>
                <a:lnTo>
                  <a:pt x="160234" y="80117"/>
                </a:lnTo>
                <a:cubicBezTo>
                  <a:pt x="160234" y="85013"/>
                  <a:pt x="156228" y="89019"/>
                  <a:pt x="151332" y="89019"/>
                </a:cubicBezTo>
                <a:lnTo>
                  <a:pt x="133528" y="89019"/>
                </a:lnTo>
                <a:cubicBezTo>
                  <a:pt x="128632" y="89019"/>
                  <a:pt x="124626" y="85013"/>
                  <a:pt x="124626" y="80117"/>
                </a:cubicBezTo>
                <a:lnTo>
                  <a:pt x="124626" y="62313"/>
                </a:lnTo>
                <a:cubicBezTo>
                  <a:pt x="124626" y="57417"/>
                  <a:pt x="128632" y="53411"/>
                  <a:pt x="133528" y="53411"/>
                </a:cubicBezTo>
                <a:close/>
                <a:moveTo>
                  <a:pt x="53411" y="133528"/>
                </a:moveTo>
                <a:cubicBezTo>
                  <a:pt x="53411" y="128632"/>
                  <a:pt x="57417" y="124626"/>
                  <a:pt x="62313" y="124626"/>
                </a:cubicBezTo>
                <a:lnTo>
                  <a:pt x="80117" y="124626"/>
                </a:lnTo>
                <a:cubicBezTo>
                  <a:pt x="85013" y="124626"/>
                  <a:pt x="89019" y="128632"/>
                  <a:pt x="89019" y="133528"/>
                </a:cubicBezTo>
                <a:lnTo>
                  <a:pt x="89019" y="151332"/>
                </a:lnTo>
                <a:cubicBezTo>
                  <a:pt x="89019" y="156228"/>
                  <a:pt x="85013" y="160234"/>
                  <a:pt x="80117" y="160234"/>
                </a:cubicBezTo>
                <a:lnTo>
                  <a:pt x="62313" y="160234"/>
                </a:lnTo>
                <a:cubicBezTo>
                  <a:pt x="57417" y="160234"/>
                  <a:pt x="53411" y="156228"/>
                  <a:pt x="53411" y="151332"/>
                </a:cubicBezTo>
                <a:lnTo>
                  <a:pt x="53411" y="133528"/>
                </a:lnTo>
                <a:close/>
                <a:moveTo>
                  <a:pt x="133528" y="124626"/>
                </a:moveTo>
                <a:lnTo>
                  <a:pt x="151332" y="124626"/>
                </a:lnTo>
                <a:cubicBezTo>
                  <a:pt x="156228" y="124626"/>
                  <a:pt x="160234" y="128632"/>
                  <a:pt x="160234" y="133528"/>
                </a:cubicBezTo>
                <a:lnTo>
                  <a:pt x="160234" y="151332"/>
                </a:lnTo>
                <a:cubicBezTo>
                  <a:pt x="160234" y="156228"/>
                  <a:pt x="156228" y="160234"/>
                  <a:pt x="151332" y="160234"/>
                </a:cubicBezTo>
                <a:lnTo>
                  <a:pt x="133528" y="160234"/>
                </a:lnTo>
                <a:cubicBezTo>
                  <a:pt x="128632" y="160234"/>
                  <a:pt x="124626" y="156228"/>
                  <a:pt x="124626" y="151332"/>
                </a:cubicBezTo>
                <a:lnTo>
                  <a:pt x="124626" y="133528"/>
                </a:lnTo>
                <a:cubicBezTo>
                  <a:pt x="124626" y="128632"/>
                  <a:pt x="128632" y="124626"/>
                  <a:pt x="133528" y="12462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3805" y="1994019"/>
            <a:ext cx="1016000" cy="379813"/>
          </a:xfrm>
          <a:custGeom>
            <a:avLst/>
            <a:gdLst/>
            <a:ahLst/>
            <a:cxnLst/>
            <a:rect l="l" t="t" r="r" b="b"/>
            <a:pathLst>
              <a:path w="1016000" h="379813">
                <a:moveTo>
                  <a:pt x="189907" y="0"/>
                </a:moveTo>
                <a:lnTo>
                  <a:pt x="826093" y="0"/>
                </a:lnTo>
                <a:cubicBezTo>
                  <a:pt x="930976" y="0"/>
                  <a:pt x="1016000" y="85024"/>
                  <a:pt x="1016000" y="189907"/>
                </a:cubicBezTo>
                <a:lnTo>
                  <a:pt x="1016000" y="189907"/>
                </a:lnTo>
                <a:cubicBezTo>
                  <a:pt x="1016000" y="294789"/>
                  <a:pt x="930976" y="379813"/>
                  <a:pt x="826093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25731" y="2112710"/>
            <a:ext cx="777207" cy="147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9376" y="2639701"/>
            <a:ext cx="3332860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Licensing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99376" y="2995776"/>
            <a:ext cx="1059693" cy="65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B2B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8421" y="3304374"/>
            <a:ext cx="532554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9376" y="3703178"/>
            <a:ext cx="3266393" cy="11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licenses for colleges and corporate L&amp;D departments. Volume discounts, custom integrations, dedicated support.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18366" y="501353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3226" y="4975551"/>
            <a:ext cx="147177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contract values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18366" y="531738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2" name="Text 30"/>
          <p:cNvSpPr/>
          <p:nvPr/>
        </p:nvSpPr>
        <p:spPr>
          <a:xfrm>
            <a:off x="4803226" y="5279402"/>
            <a:ext cx="157622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Multi-year agreements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18366" y="562123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4" name="Text 32"/>
          <p:cNvSpPr/>
          <p:nvPr/>
        </p:nvSpPr>
        <p:spPr>
          <a:xfrm>
            <a:off x="4803226" y="5583252"/>
            <a:ext cx="114893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features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4676" y="1642692"/>
            <a:ext cx="3665196" cy="4405832"/>
          </a:xfrm>
          <a:custGeom>
            <a:avLst/>
            <a:gdLst/>
            <a:ahLst/>
            <a:cxnLst/>
            <a:rect l="l" t="t" r="r" b="b"/>
            <a:pathLst>
              <a:path w="3665196" h="4405832">
                <a:moveTo>
                  <a:pt x="151922" y="0"/>
                </a:moveTo>
                <a:lnTo>
                  <a:pt x="3513274" y="0"/>
                </a:lnTo>
                <a:cubicBezTo>
                  <a:pt x="3597122" y="0"/>
                  <a:pt x="3665196" y="68074"/>
                  <a:pt x="3665196" y="151922"/>
                </a:cubicBezTo>
                <a:lnTo>
                  <a:pt x="3665196" y="4253909"/>
                </a:lnTo>
                <a:cubicBezTo>
                  <a:pt x="3665196" y="4337758"/>
                  <a:pt x="3597122" y="4405832"/>
                  <a:pt x="3513274" y="4405832"/>
                </a:cubicBezTo>
                <a:lnTo>
                  <a:pt x="151922" y="4405832"/>
                </a:lnTo>
                <a:cubicBezTo>
                  <a:pt x="68074" y="4405832"/>
                  <a:pt x="0" y="4337758"/>
                  <a:pt x="0" y="4253909"/>
                </a:cubicBezTo>
                <a:lnTo>
                  <a:pt x="0" y="151922"/>
                </a:lnTo>
                <a:cubicBezTo>
                  <a:pt x="0" y="68074"/>
                  <a:pt x="68074" y="0"/>
                  <a:pt x="151922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50000"/>
                </a:srgbClr>
              </a:gs>
              <a:gs pos="100000">
                <a:srgbClr val="4A5C6A">
                  <a:alpha val="20000"/>
                </a:srgbClr>
              </a:gs>
            </a:gsLst>
            <a:lin ang="5400000" scaled="1"/>
          </a:gradFill>
          <a:ln w="25400">
            <a:solidFill>
              <a:srgbClr val="4A5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72060" y="1880075"/>
            <a:ext cx="607701" cy="607701"/>
          </a:xfrm>
          <a:custGeom>
            <a:avLst/>
            <a:gdLst/>
            <a:ahLst/>
            <a:cxnLst/>
            <a:rect l="l" t="t" r="r" b="b"/>
            <a:pathLst>
              <a:path w="607701" h="607701">
                <a:moveTo>
                  <a:pt x="151925" y="0"/>
                </a:moveTo>
                <a:lnTo>
                  <a:pt x="455776" y="0"/>
                </a:lnTo>
                <a:cubicBezTo>
                  <a:pt x="539626" y="0"/>
                  <a:pt x="607701" y="68075"/>
                  <a:pt x="607701" y="151925"/>
                </a:cubicBezTo>
                <a:lnTo>
                  <a:pt x="607701" y="455776"/>
                </a:lnTo>
                <a:cubicBezTo>
                  <a:pt x="607701" y="539626"/>
                  <a:pt x="539626" y="607701"/>
                  <a:pt x="455776" y="607701"/>
                </a:cubicBezTo>
                <a:lnTo>
                  <a:pt x="151925" y="607701"/>
                </a:lnTo>
                <a:cubicBezTo>
                  <a:pt x="68075" y="607701"/>
                  <a:pt x="0" y="539626"/>
                  <a:pt x="0" y="455776"/>
                </a:cubicBezTo>
                <a:lnTo>
                  <a:pt x="0" y="151925"/>
                </a:lnTo>
                <a:cubicBezTo>
                  <a:pt x="0" y="68075"/>
                  <a:pt x="68075" y="0"/>
                  <a:pt x="151925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7" name="Shape 35"/>
          <p:cNvSpPr/>
          <p:nvPr/>
        </p:nvSpPr>
        <p:spPr>
          <a:xfrm>
            <a:off x="8518050" y="2041495"/>
            <a:ext cx="320467" cy="284860"/>
          </a:xfrm>
          <a:custGeom>
            <a:avLst/>
            <a:gdLst/>
            <a:ahLst/>
            <a:cxnLst/>
            <a:rect l="l" t="t" r="r" b="b"/>
            <a:pathLst>
              <a:path w="320467" h="284860">
                <a:moveTo>
                  <a:pt x="149607" y="47402"/>
                </a:moveTo>
                <a:lnTo>
                  <a:pt x="84735" y="119508"/>
                </a:lnTo>
                <a:cubicBezTo>
                  <a:pt x="82175" y="122345"/>
                  <a:pt x="82287" y="126740"/>
                  <a:pt x="85013" y="129467"/>
                </a:cubicBezTo>
                <a:cubicBezTo>
                  <a:pt x="101982" y="146436"/>
                  <a:pt x="129522" y="146436"/>
                  <a:pt x="146491" y="129467"/>
                </a:cubicBezTo>
                <a:lnTo>
                  <a:pt x="164184" y="111774"/>
                </a:lnTo>
                <a:cubicBezTo>
                  <a:pt x="166521" y="109437"/>
                  <a:pt x="169469" y="108158"/>
                  <a:pt x="172474" y="107935"/>
                </a:cubicBezTo>
                <a:cubicBezTo>
                  <a:pt x="176257" y="107601"/>
                  <a:pt x="180152" y="108881"/>
                  <a:pt x="183045" y="111774"/>
                </a:cubicBezTo>
                <a:lnTo>
                  <a:pt x="281299" y="209194"/>
                </a:lnTo>
                <a:lnTo>
                  <a:pt x="320467" y="178037"/>
                </a:lnTo>
                <a:lnTo>
                  <a:pt x="320467" y="17804"/>
                </a:lnTo>
                <a:lnTo>
                  <a:pt x="258154" y="53411"/>
                </a:lnTo>
                <a:lnTo>
                  <a:pt x="244913" y="44565"/>
                </a:lnTo>
                <a:cubicBezTo>
                  <a:pt x="236122" y="38723"/>
                  <a:pt x="225829" y="35607"/>
                  <a:pt x="215258" y="35607"/>
                </a:cubicBezTo>
                <a:lnTo>
                  <a:pt x="176090" y="35607"/>
                </a:lnTo>
                <a:cubicBezTo>
                  <a:pt x="175478" y="35607"/>
                  <a:pt x="174810" y="35607"/>
                  <a:pt x="174198" y="35663"/>
                </a:cubicBezTo>
                <a:cubicBezTo>
                  <a:pt x="164796" y="36164"/>
                  <a:pt x="155950" y="40392"/>
                  <a:pt x="149607" y="47402"/>
                </a:cubicBezTo>
                <a:close/>
                <a:moveTo>
                  <a:pt x="64872" y="101648"/>
                </a:moveTo>
                <a:lnTo>
                  <a:pt x="124292" y="35607"/>
                </a:lnTo>
                <a:lnTo>
                  <a:pt x="102260" y="35607"/>
                </a:lnTo>
                <a:cubicBezTo>
                  <a:pt x="88073" y="35607"/>
                  <a:pt x="74498" y="41227"/>
                  <a:pt x="64483" y="51241"/>
                </a:cubicBezTo>
                <a:lnTo>
                  <a:pt x="62313" y="53411"/>
                </a:lnTo>
                <a:lnTo>
                  <a:pt x="0" y="17804"/>
                </a:lnTo>
                <a:lnTo>
                  <a:pt x="0" y="178037"/>
                </a:lnTo>
                <a:lnTo>
                  <a:pt x="87016" y="250532"/>
                </a:lnTo>
                <a:cubicBezTo>
                  <a:pt x="99812" y="261214"/>
                  <a:pt x="115947" y="267056"/>
                  <a:pt x="132582" y="267056"/>
                </a:cubicBezTo>
                <a:lnTo>
                  <a:pt x="141317" y="267056"/>
                </a:lnTo>
                <a:lnTo>
                  <a:pt x="137423" y="263162"/>
                </a:lnTo>
                <a:cubicBezTo>
                  <a:pt x="132193" y="257932"/>
                  <a:pt x="132193" y="249475"/>
                  <a:pt x="137423" y="244301"/>
                </a:cubicBezTo>
                <a:cubicBezTo>
                  <a:pt x="142652" y="239126"/>
                  <a:pt x="151109" y="239071"/>
                  <a:pt x="156283" y="244301"/>
                </a:cubicBezTo>
                <a:lnTo>
                  <a:pt x="179094" y="267112"/>
                </a:lnTo>
                <a:lnTo>
                  <a:pt x="184102" y="267112"/>
                </a:lnTo>
                <a:cubicBezTo>
                  <a:pt x="194728" y="267112"/>
                  <a:pt x="205132" y="264719"/>
                  <a:pt x="214591" y="260268"/>
                </a:cubicBezTo>
                <a:lnTo>
                  <a:pt x="199736" y="245358"/>
                </a:lnTo>
                <a:cubicBezTo>
                  <a:pt x="194506" y="240128"/>
                  <a:pt x="194506" y="231671"/>
                  <a:pt x="199736" y="226497"/>
                </a:cubicBezTo>
                <a:cubicBezTo>
                  <a:pt x="204966" y="221323"/>
                  <a:pt x="213422" y="221267"/>
                  <a:pt x="218597" y="226497"/>
                </a:cubicBezTo>
                <a:lnTo>
                  <a:pt x="236400" y="244301"/>
                </a:lnTo>
                <a:lnTo>
                  <a:pt x="246137" y="234564"/>
                </a:lnTo>
                <a:cubicBezTo>
                  <a:pt x="251088" y="229613"/>
                  <a:pt x="252535" y="222435"/>
                  <a:pt x="250365" y="216149"/>
                </a:cubicBezTo>
                <a:lnTo>
                  <a:pt x="173642" y="140038"/>
                </a:lnTo>
                <a:lnTo>
                  <a:pt x="165352" y="148327"/>
                </a:lnTo>
                <a:cubicBezTo>
                  <a:pt x="137923" y="175756"/>
                  <a:pt x="93525" y="175756"/>
                  <a:pt x="66096" y="148327"/>
                </a:cubicBezTo>
                <a:cubicBezTo>
                  <a:pt x="53300" y="135531"/>
                  <a:pt x="52799" y="115001"/>
                  <a:pt x="64872" y="101593"/>
                </a:cubicBez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362814" y="1994019"/>
            <a:ext cx="1196411" cy="379813"/>
          </a:xfrm>
          <a:custGeom>
            <a:avLst/>
            <a:gdLst/>
            <a:ahLst/>
            <a:cxnLst/>
            <a:rect l="l" t="t" r="r" b="b"/>
            <a:pathLst>
              <a:path w="1196411" h="379813">
                <a:moveTo>
                  <a:pt x="189907" y="0"/>
                </a:moveTo>
                <a:lnTo>
                  <a:pt x="1006505" y="0"/>
                </a:lnTo>
                <a:cubicBezTo>
                  <a:pt x="1111387" y="0"/>
                  <a:pt x="1196411" y="85024"/>
                  <a:pt x="1196411" y="189907"/>
                </a:cubicBezTo>
                <a:lnTo>
                  <a:pt x="1196411" y="189907"/>
                </a:lnTo>
                <a:cubicBezTo>
                  <a:pt x="1196411" y="294789"/>
                  <a:pt x="1111387" y="379813"/>
                  <a:pt x="1006505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514739" y="2112710"/>
            <a:ext cx="960883" cy="147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2060" y="2639701"/>
            <a:ext cx="3332860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Affiliate &amp; Brand Partners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2060" y="2995776"/>
            <a:ext cx="983582" cy="65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64994" y="3304374"/>
            <a:ext cx="563711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72060" y="3703178"/>
            <a:ext cx="3266393" cy="11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sharing with course platforms, employer partnerships for placement, brand sponsorships for rewards.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91050" y="501353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5" name="Text 43"/>
          <p:cNvSpPr/>
          <p:nvPr/>
        </p:nvSpPr>
        <p:spPr>
          <a:xfrm>
            <a:off x="8675910" y="4975551"/>
            <a:ext cx="171865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platform affiliates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1050" y="531738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7" name="Text 45"/>
          <p:cNvSpPr/>
          <p:nvPr/>
        </p:nvSpPr>
        <p:spPr>
          <a:xfrm>
            <a:off x="8675910" y="5279402"/>
            <a:ext cx="156672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 partnerships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91050" y="5621234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9" name="Text 47"/>
          <p:cNvSpPr/>
          <p:nvPr/>
        </p:nvSpPr>
        <p:spPr>
          <a:xfrm>
            <a:off x="8675910" y="5583252"/>
            <a:ext cx="136732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sponsorships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538938" y="6209944"/>
            <a:ext cx="122489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ARR Year 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505704" y="6475813"/>
            <a:ext cx="1291364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₹2.4 Cr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179478" y="6285907"/>
            <a:ext cx="9495" cy="455776"/>
          </a:xfrm>
          <a:custGeom>
            <a:avLst/>
            <a:gdLst/>
            <a:ahLst/>
            <a:cxnLst/>
            <a:rect l="l" t="t" r="r" b="b"/>
            <a:pathLst>
              <a:path w="9495" h="455776">
                <a:moveTo>
                  <a:pt x="0" y="0"/>
                </a:moveTo>
                <a:lnTo>
                  <a:pt x="9495" y="0"/>
                </a:lnTo>
                <a:lnTo>
                  <a:pt x="9495" y="455776"/>
                </a:lnTo>
                <a:lnTo>
                  <a:pt x="0" y="455776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3" name="Text 51"/>
          <p:cNvSpPr/>
          <p:nvPr/>
        </p:nvSpPr>
        <p:spPr>
          <a:xfrm>
            <a:off x="5606768" y="6209944"/>
            <a:ext cx="125338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ARR Year 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573534" y="6475813"/>
            <a:ext cx="1319850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₹15 Cr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280394" y="6285907"/>
            <a:ext cx="9495" cy="455776"/>
          </a:xfrm>
          <a:custGeom>
            <a:avLst/>
            <a:gdLst/>
            <a:ahLst/>
            <a:cxnLst/>
            <a:rect l="l" t="t" r="r" b="b"/>
            <a:pathLst>
              <a:path w="9495" h="455776">
                <a:moveTo>
                  <a:pt x="0" y="0"/>
                </a:moveTo>
                <a:lnTo>
                  <a:pt x="9495" y="0"/>
                </a:lnTo>
                <a:lnTo>
                  <a:pt x="9495" y="455776"/>
                </a:lnTo>
                <a:lnTo>
                  <a:pt x="0" y="455776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56" name="Text 54"/>
          <p:cNvSpPr/>
          <p:nvPr/>
        </p:nvSpPr>
        <p:spPr>
          <a:xfrm>
            <a:off x="7707683" y="6209944"/>
            <a:ext cx="94003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74450" y="6475813"/>
            <a:ext cx="1006505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75%+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711" y="355711"/>
            <a:ext cx="11551720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spc="112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5711" y="640280"/>
            <a:ext cx="11694004" cy="426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711" y="1138276"/>
            <a:ext cx="11569505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Massive, growing, and underserved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158" y="1534004"/>
            <a:ext cx="6802976" cy="2561120"/>
          </a:xfrm>
          <a:custGeom>
            <a:avLst/>
            <a:gdLst/>
            <a:ahLst/>
            <a:cxnLst/>
            <a:rect l="l" t="t" r="r" b="b"/>
            <a:pathLst>
              <a:path w="6802976" h="2561120">
                <a:moveTo>
                  <a:pt x="142296" y="0"/>
                </a:moveTo>
                <a:lnTo>
                  <a:pt x="6660680" y="0"/>
                </a:lnTo>
                <a:cubicBezTo>
                  <a:pt x="6739268" y="0"/>
                  <a:pt x="6802976" y="63708"/>
                  <a:pt x="6802976" y="142296"/>
                </a:cubicBezTo>
                <a:lnTo>
                  <a:pt x="6802976" y="2418825"/>
                </a:lnTo>
                <a:cubicBezTo>
                  <a:pt x="6802976" y="2497412"/>
                  <a:pt x="6739268" y="2561120"/>
                  <a:pt x="6660680" y="2561120"/>
                </a:cubicBezTo>
                <a:lnTo>
                  <a:pt x="142296" y="2561120"/>
                </a:lnTo>
                <a:cubicBezTo>
                  <a:pt x="63708" y="2561120"/>
                  <a:pt x="0" y="2497412"/>
                  <a:pt x="0" y="2418825"/>
                </a:cubicBezTo>
                <a:lnTo>
                  <a:pt x="0" y="142296"/>
                </a:lnTo>
                <a:cubicBezTo>
                  <a:pt x="0" y="63761"/>
                  <a:pt x="63761" y="0"/>
                  <a:pt x="142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40000"/>
                </a:srgbClr>
              </a:gs>
              <a:gs pos="100000">
                <a:srgbClr val="3D8F8A">
                  <a:alpha val="10000"/>
                </a:srgbClr>
              </a:gs>
            </a:gsLst>
            <a:lin ang="2700000" scaled="1"/>
          </a:gra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8031" y="1751877"/>
            <a:ext cx="647394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EdTech Market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8031" y="2178731"/>
            <a:ext cx="1894162" cy="53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1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$404B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16430" y="2409943"/>
            <a:ext cx="871492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2028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8031" y="2819011"/>
            <a:ext cx="6447265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at 16.5% CAGR. Digital learning adoption accelerated by remote work and digital transformation.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8031" y="3534880"/>
            <a:ext cx="106713" cy="106713"/>
          </a:xfrm>
          <a:custGeom>
            <a:avLst/>
            <a:gdLst/>
            <a:ahLst/>
            <a:cxnLst/>
            <a:rect l="l" t="t" r="r" b="b"/>
            <a:pathLst>
              <a:path w="106713" h="106713">
                <a:moveTo>
                  <a:pt x="53357" y="0"/>
                </a:moveTo>
                <a:lnTo>
                  <a:pt x="53357" y="0"/>
                </a:lnTo>
                <a:cubicBezTo>
                  <a:pt x="82825" y="0"/>
                  <a:pt x="106713" y="23889"/>
                  <a:pt x="106713" y="53357"/>
                </a:cubicBezTo>
                <a:lnTo>
                  <a:pt x="106713" y="53357"/>
                </a:lnTo>
                <a:cubicBezTo>
                  <a:pt x="106713" y="82825"/>
                  <a:pt x="82825" y="106713"/>
                  <a:pt x="53357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755886" y="3481523"/>
            <a:ext cx="98709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courses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84644" y="3534880"/>
            <a:ext cx="106713" cy="106713"/>
          </a:xfrm>
          <a:custGeom>
            <a:avLst/>
            <a:gdLst/>
            <a:ahLst/>
            <a:cxnLst/>
            <a:rect l="l" t="t" r="r" b="b"/>
            <a:pathLst>
              <a:path w="106713" h="106713">
                <a:moveTo>
                  <a:pt x="53357" y="0"/>
                </a:moveTo>
                <a:lnTo>
                  <a:pt x="53357" y="0"/>
                </a:lnTo>
                <a:cubicBezTo>
                  <a:pt x="82825" y="0"/>
                  <a:pt x="106713" y="23889"/>
                  <a:pt x="106713" y="53357"/>
                </a:cubicBezTo>
                <a:lnTo>
                  <a:pt x="106713" y="53357"/>
                </a:lnTo>
                <a:cubicBezTo>
                  <a:pt x="106713" y="82825"/>
                  <a:pt x="82825" y="106713"/>
                  <a:pt x="53357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2062499" y="3481523"/>
            <a:ext cx="1191632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training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92039" y="3534880"/>
            <a:ext cx="106713" cy="106713"/>
          </a:xfrm>
          <a:custGeom>
            <a:avLst/>
            <a:gdLst/>
            <a:ahLst/>
            <a:cxnLst/>
            <a:rect l="l" t="t" r="r" b="b"/>
            <a:pathLst>
              <a:path w="106713" h="106713">
                <a:moveTo>
                  <a:pt x="53357" y="0"/>
                </a:moveTo>
                <a:lnTo>
                  <a:pt x="53357" y="0"/>
                </a:lnTo>
                <a:cubicBezTo>
                  <a:pt x="82825" y="0"/>
                  <a:pt x="106713" y="23889"/>
                  <a:pt x="106713" y="53357"/>
                </a:cubicBezTo>
                <a:lnTo>
                  <a:pt x="106713" y="53357"/>
                </a:lnTo>
                <a:cubicBezTo>
                  <a:pt x="106713" y="82825"/>
                  <a:pt x="82825" y="106713"/>
                  <a:pt x="53357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5" name="Text 13"/>
          <p:cNvSpPr/>
          <p:nvPr/>
        </p:nvSpPr>
        <p:spPr>
          <a:xfrm>
            <a:off x="3569895" y="3481523"/>
            <a:ext cx="666958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0158" y="4284096"/>
            <a:ext cx="6802976" cy="2561120"/>
          </a:xfrm>
          <a:custGeom>
            <a:avLst/>
            <a:gdLst/>
            <a:ahLst/>
            <a:cxnLst/>
            <a:rect l="l" t="t" r="r" b="b"/>
            <a:pathLst>
              <a:path w="6802976" h="2561120">
                <a:moveTo>
                  <a:pt x="142296" y="0"/>
                </a:moveTo>
                <a:lnTo>
                  <a:pt x="6660680" y="0"/>
                </a:lnTo>
                <a:cubicBezTo>
                  <a:pt x="6739268" y="0"/>
                  <a:pt x="6802976" y="63708"/>
                  <a:pt x="6802976" y="142296"/>
                </a:cubicBezTo>
                <a:lnTo>
                  <a:pt x="6802976" y="2418825"/>
                </a:lnTo>
                <a:cubicBezTo>
                  <a:pt x="6802976" y="2497412"/>
                  <a:pt x="6739268" y="2561120"/>
                  <a:pt x="6660680" y="2561120"/>
                </a:cubicBezTo>
                <a:lnTo>
                  <a:pt x="142296" y="2561120"/>
                </a:lnTo>
                <a:cubicBezTo>
                  <a:pt x="63708" y="2561120"/>
                  <a:pt x="0" y="2497412"/>
                  <a:pt x="0" y="2418825"/>
                </a:cubicBezTo>
                <a:lnTo>
                  <a:pt x="0" y="142296"/>
                </a:lnTo>
                <a:cubicBezTo>
                  <a:pt x="0" y="63761"/>
                  <a:pt x="63761" y="0"/>
                  <a:pt x="142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E9C46A">
                  <a:alpha val="40000"/>
                </a:srgbClr>
              </a:gs>
              <a:gs pos="100000">
                <a:srgbClr val="E9C46A">
                  <a:alpha val="10000"/>
                </a:srgbClr>
              </a:gs>
            </a:gsLst>
            <a:lin ang="2700000" scaled="1"/>
          </a:gradFill>
          <a:ln w="12700">
            <a:solidFill>
              <a:srgbClr val="E9C46A">
                <a:alpha val="5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8031" y="4501969"/>
            <a:ext cx="6473943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Corporate Upskilling Demand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8031" y="4928823"/>
            <a:ext cx="1858591" cy="53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20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$370B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75857" y="5160035"/>
            <a:ext cx="1440630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spent annually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8031" y="5569103"/>
            <a:ext cx="6447265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worldwide invest heavily in employee development. Yet 90% of skills are forgotten within a year without reinforcement.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6923" y="6267186"/>
            <a:ext cx="160070" cy="142284"/>
          </a:xfrm>
          <a:custGeom>
            <a:avLst/>
            <a:gdLst/>
            <a:ahLst/>
            <a:cxnLst/>
            <a:rect l="l" t="t" r="r" b="b"/>
            <a:pathLst>
              <a:path w="160070" h="142284">
                <a:moveTo>
                  <a:pt x="106713" y="44464"/>
                </a:moveTo>
                <a:cubicBezTo>
                  <a:pt x="101795" y="44464"/>
                  <a:pt x="97821" y="40490"/>
                  <a:pt x="97821" y="35571"/>
                </a:cubicBezTo>
                <a:cubicBezTo>
                  <a:pt x="97821" y="30652"/>
                  <a:pt x="101795" y="26678"/>
                  <a:pt x="106713" y="26678"/>
                </a:cubicBezTo>
                <a:lnTo>
                  <a:pt x="151177" y="26678"/>
                </a:lnTo>
                <a:cubicBezTo>
                  <a:pt x="156096" y="26678"/>
                  <a:pt x="160070" y="30652"/>
                  <a:pt x="160070" y="35571"/>
                </a:cubicBezTo>
                <a:lnTo>
                  <a:pt x="160070" y="80035"/>
                </a:lnTo>
                <a:cubicBezTo>
                  <a:pt x="160070" y="84954"/>
                  <a:pt x="156096" y="88928"/>
                  <a:pt x="151177" y="88928"/>
                </a:cubicBezTo>
                <a:cubicBezTo>
                  <a:pt x="146258" y="88928"/>
                  <a:pt x="142284" y="84954"/>
                  <a:pt x="142284" y="80035"/>
                </a:cubicBezTo>
                <a:lnTo>
                  <a:pt x="142284" y="57053"/>
                </a:lnTo>
                <a:lnTo>
                  <a:pt x="95208" y="104129"/>
                </a:lnTo>
                <a:cubicBezTo>
                  <a:pt x="91735" y="107603"/>
                  <a:pt x="86093" y="107603"/>
                  <a:pt x="82619" y="104129"/>
                </a:cubicBezTo>
                <a:lnTo>
                  <a:pt x="53357" y="74838"/>
                </a:lnTo>
                <a:lnTo>
                  <a:pt x="15173" y="112994"/>
                </a:lnTo>
                <a:cubicBezTo>
                  <a:pt x="11700" y="116468"/>
                  <a:pt x="6058" y="116468"/>
                  <a:pt x="2584" y="112994"/>
                </a:cubicBezTo>
                <a:cubicBezTo>
                  <a:pt x="-889" y="109520"/>
                  <a:pt x="-889" y="103879"/>
                  <a:pt x="2584" y="100405"/>
                </a:cubicBezTo>
                <a:lnTo>
                  <a:pt x="47048" y="55941"/>
                </a:lnTo>
                <a:cubicBezTo>
                  <a:pt x="50522" y="52467"/>
                  <a:pt x="56163" y="52467"/>
                  <a:pt x="59637" y="55941"/>
                </a:cubicBezTo>
                <a:lnTo>
                  <a:pt x="88928" y="85232"/>
                </a:lnTo>
                <a:lnTo>
                  <a:pt x="129696" y="44464"/>
                </a:lnTo>
                <a:lnTo>
                  <a:pt x="106713" y="44464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827028" y="6231615"/>
            <a:ext cx="1565129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skill obsolescence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541806" y="6267186"/>
            <a:ext cx="160070" cy="142284"/>
          </a:xfrm>
          <a:custGeom>
            <a:avLst/>
            <a:gdLst/>
            <a:ahLst/>
            <a:cxnLst/>
            <a:rect l="l" t="t" r="r" b="b"/>
            <a:pathLst>
              <a:path w="160070" h="142284">
                <a:moveTo>
                  <a:pt x="106713" y="44464"/>
                </a:moveTo>
                <a:cubicBezTo>
                  <a:pt x="101795" y="44464"/>
                  <a:pt x="97821" y="40490"/>
                  <a:pt x="97821" y="35571"/>
                </a:cubicBezTo>
                <a:cubicBezTo>
                  <a:pt x="97821" y="30652"/>
                  <a:pt x="101795" y="26678"/>
                  <a:pt x="106713" y="26678"/>
                </a:cubicBezTo>
                <a:lnTo>
                  <a:pt x="151177" y="26678"/>
                </a:lnTo>
                <a:cubicBezTo>
                  <a:pt x="156096" y="26678"/>
                  <a:pt x="160070" y="30652"/>
                  <a:pt x="160070" y="35571"/>
                </a:cubicBezTo>
                <a:lnTo>
                  <a:pt x="160070" y="80035"/>
                </a:lnTo>
                <a:cubicBezTo>
                  <a:pt x="160070" y="84954"/>
                  <a:pt x="156096" y="88928"/>
                  <a:pt x="151177" y="88928"/>
                </a:cubicBezTo>
                <a:cubicBezTo>
                  <a:pt x="146258" y="88928"/>
                  <a:pt x="142284" y="84954"/>
                  <a:pt x="142284" y="80035"/>
                </a:cubicBezTo>
                <a:lnTo>
                  <a:pt x="142284" y="57053"/>
                </a:lnTo>
                <a:lnTo>
                  <a:pt x="95208" y="104129"/>
                </a:lnTo>
                <a:cubicBezTo>
                  <a:pt x="91735" y="107603"/>
                  <a:pt x="86093" y="107603"/>
                  <a:pt x="82619" y="104129"/>
                </a:cubicBezTo>
                <a:lnTo>
                  <a:pt x="53357" y="74838"/>
                </a:lnTo>
                <a:lnTo>
                  <a:pt x="15173" y="112994"/>
                </a:lnTo>
                <a:cubicBezTo>
                  <a:pt x="11700" y="116468"/>
                  <a:pt x="6058" y="116468"/>
                  <a:pt x="2584" y="112994"/>
                </a:cubicBezTo>
                <a:cubicBezTo>
                  <a:pt x="-889" y="109520"/>
                  <a:pt x="-889" y="103879"/>
                  <a:pt x="2584" y="100405"/>
                </a:cubicBezTo>
                <a:lnTo>
                  <a:pt x="47048" y="55941"/>
                </a:lnTo>
                <a:cubicBezTo>
                  <a:pt x="50522" y="52467"/>
                  <a:pt x="56163" y="52467"/>
                  <a:pt x="59637" y="55941"/>
                </a:cubicBezTo>
                <a:lnTo>
                  <a:pt x="88928" y="85232"/>
                </a:lnTo>
                <a:lnTo>
                  <a:pt x="129696" y="44464"/>
                </a:lnTo>
                <a:lnTo>
                  <a:pt x="106713" y="44464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2781911" y="6231615"/>
            <a:ext cx="1396166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transformation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53425" y="1534004"/>
            <a:ext cx="4473068" cy="3210293"/>
          </a:xfrm>
          <a:custGeom>
            <a:avLst/>
            <a:gdLst/>
            <a:ahLst/>
            <a:cxnLst/>
            <a:rect l="l" t="t" r="r" b="b"/>
            <a:pathLst>
              <a:path w="4473068" h="3210293">
                <a:moveTo>
                  <a:pt x="142280" y="0"/>
                </a:moveTo>
                <a:lnTo>
                  <a:pt x="4330788" y="0"/>
                </a:lnTo>
                <a:cubicBezTo>
                  <a:pt x="4409367" y="0"/>
                  <a:pt x="4473068" y="63701"/>
                  <a:pt x="4473068" y="142280"/>
                </a:cubicBezTo>
                <a:lnTo>
                  <a:pt x="4473068" y="3068013"/>
                </a:lnTo>
                <a:cubicBezTo>
                  <a:pt x="4473068" y="3146592"/>
                  <a:pt x="4409367" y="3210293"/>
                  <a:pt x="4330788" y="3210293"/>
                </a:cubicBezTo>
                <a:lnTo>
                  <a:pt x="142280" y="3210293"/>
                </a:lnTo>
                <a:cubicBezTo>
                  <a:pt x="63701" y="3210293"/>
                  <a:pt x="0" y="3146592"/>
                  <a:pt x="0" y="3068013"/>
                </a:cubicBezTo>
                <a:lnTo>
                  <a:pt x="0" y="142280"/>
                </a:lnTo>
                <a:cubicBezTo>
                  <a:pt x="0" y="63754"/>
                  <a:pt x="63754" y="0"/>
                  <a:pt x="142280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98" y="1751877"/>
            <a:ext cx="4144035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Addressable Market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71298" y="2232088"/>
            <a:ext cx="400175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36469" y="2214302"/>
            <a:ext cx="578031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3D8F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$12B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71298" y="2570013"/>
            <a:ext cx="4037322" cy="106713"/>
          </a:xfrm>
          <a:custGeom>
            <a:avLst/>
            <a:gdLst/>
            <a:ahLst/>
            <a:cxnLst/>
            <a:rect l="l" t="t" r="r" b="b"/>
            <a:pathLst>
              <a:path w="4037322" h="106713">
                <a:moveTo>
                  <a:pt x="53357" y="0"/>
                </a:moveTo>
                <a:lnTo>
                  <a:pt x="3983965" y="0"/>
                </a:lnTo>
                <a:cubicBezTo>
                  <a:pt x="4013433" y="0"/>
                  <a:pt x="4037322" y="23889"/>
                  <a:pt x="4037322" y="53357"/>
                </a:cubicBezTo>
                <a:lnTo>
                  <a:pt x="4037322" y="53357"/>
                </a:lnTo>
                <a:cubicBezTo>
                  <a:pt x="4037322" y="82825"/>
                  <a:pt x="4013433" y="106713"/>
                  <a:pt x="3983965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71298" y="2570013"/>
            <a:ext cx="4037322" cy="106713"/>
          </a:xfrm>
          <a:custGeom>
            <a:avLst/>
            <a:gdLst/>
            <a:ahLst/>
            <a:cxnLst/>
            <a:rect l="l" t="t" r="r" b="b"/>
            <a:pathLst>
              <a:path w="4037322" h="106713">
                <a:moveTo>
                  <a:pt x="53357" y="0"/>
                </a:moveTo>
                <a:lnTo>
                  <a:pt x="3983965" y="0"/>
                </a:lnTo>
                <a:cubicBezTo>
                  <a:pt x="4013433" y="0"/>
                  <a:pt x="4037322" y="23889"/>
                  <a:pt x="4037322" y="53357"/>
                </a:cubicBezTo>
                <a:lnTo>
                  <a:pt x="4037322" y="53357"/>
                </a:lnTo>
                <a:cubicBezTo>
                  <a:pt x="4037322" y="82825"/>
                  <a:pt x="4013433" y="106713"/>
                  <a:pt x="3983965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98" y="2712298"/>
            <a:ext cx="4099571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1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learning engagement tools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71298" y="3050223"/>
            <a:ext cx="409068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47055" y="3032438"/>
            <a:ext cx="666958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E9C4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$2.4B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71298" y="3388149"/>
            <a:ext cx="4037322" cy="106713"/>
          </a:xfrm>
          <a:custGeom>
            <a:avLst/>
            <a:gdLst/>
            <a:ahLst/>
            <a:cxnLst/>
            <a:rect l="l" t="t" r="r" b="b"/>
            <a:pathLst>
              <a:path w="4037322" h="106713">
                <a:moveTo>
                  <a:pt x="53357" y="0"/>
                </a:moveTo>
                <a:lnTo>
                  <a:pt x="3983965" y="0"/>
                </a:lnTo>
                <a:cubicBezTo>
                  <a:pt x="4013433" y="0"/>
                  <a:pt x="4037322" y="23889"/>
                  <a:pt x="4037322" y="53357"/>
                </a:cubicBezTo>
                <a:lnTo>
                  <a:pt x="4037322" y="53357"/>
                </a:lnTo>
                <a:cubicBezTo>
                  <a:pt x="4037322" y="82825"/>
                  <a:pt x="4013433" y="106713"/>
                  <a:pt x="3983965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1298" y="3388149"/>
            <a:ext cx="2018661" cy="106713"/>
          </a:xfrm>
          <a:custGeom>
            <a:avLst/>
            <a:gdLst/>
            <a:ahLst/>
            <a:cxnLst/>
            <a:rect l="l" t="t" r="r" b="b"/>
            <a:pathLst>
              <a:path w="2018661" h="106713">
                <a:moveTo>
                  <a:pt x="53357" y="0"/>
                </a:moveTo>
                <a:lnTo>
                  <a:pt x="1965304" y="0"/>
                </a:lnTo>
                <a:cubicBezTo>
                  <a:pt x="1994772" y="0"/>
                  <a:pt x="2018661" y="23889"/>
                  <a:pt x="2018661" y="53357"/>
                </a:cubicBezTo>
                <a:lnTo>
                  <a:pt x="2018661" y="53357"/>
                </a:lnTo>
                <a:cubicBezTo>
                  <a:pt x="2018661" y="82825"/>
                  <a:pt x="1994772" y="106713"/>
                  <a:pt x="1965304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98" y="3530433"/>
            <a:ext cx="4099571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1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 + SE Asia EdTech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71298" y="3868359"/>
            <a:ext cx="426853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42704" y="3850573"/>
            <a:ext cx="773672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$120M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71298" y="4206284"/>
            <a:ext cx="4037322" cy="106713"/>
          </a:xfrm>
          <a:custGeom>
            <a:avLst/>
            <a:gdLst/>
            <a:ahLst/>
            <a:cxnLst/>
            <a:rect l="l" t="t" r="r" b="b"/>
            <a:pathLst>
              <a:path w="4037322" h="106713">
                <a:moveTo>
                  <a:pt x="53357" y="0"/>
                </a:moveTo>
                <a:lnTo>
                  <a:pt x="3983965" y="0"/>
                </a:lnTo>
                <a:cubicBezTo>
                  <a:pt x="4013433" y="0"/>
                  <a:pt x="4037322" y="23889"/>
                  <a:pt x="4037322" y="53357"/>
                </a:cubicBezTo>
                <a:lnTo>
                  <a:pt x="4037322" y="53357"/>
                </a:lnTo>
                <a:cubicBezTo>
                  <a:pt x="4037322" y="82825"/>
                  <a:pt x="4013433" y="106713"/>
                  <a:pt x="3983965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71298" y="4206284"/>
            <a:ext cx="1013777" cy="106713"/>
          </a:xfrm>
          <a:custGeom>
            <a:avLst/>
            <a:gdLst/>
            <a:ahLst/>
            <a:cxnLst/>
            <a:rect l="l" t="t" r="r" b="b"/>
            <a:pathLst>
              <a:path w="1013777" h="106713">
                <a:moveTo>
                  <a:pt x="53357" y="0"/>
                </a:moveTo>
                <a:lnTo>
                  <a:pt x="960420" y="0"/>
                </a:lnTo>
                <a:cubicBezTo>
                  <a:pt x="989888" y="0"/>
                  <a:pt x="1013777" y="23889"/>
                  <a:pt x="1013777" y="53357"/>
                </a:cubicBezTo>
                <a:lnTo>
                  <a:pt x="1013777" y="53357"/>
                </a:lnTo>
                <a:cubicBezTo>
                  <a:pt x="1013777" y="82825"/>
                  <a:pt x="989888" y="106713"/>
                  <a:pt x="960420" y="106713"/>
                </a:cubicBezTo>
                <a:lnTo>
                  <a:pt x="53357" y="106713"/>
                </a:lnTo>
                <a:cubicBezTo>
                  <a:pt x="23889" y="106713"/>
                  <a:pt x="0" y="82825"/>
                  <a:pt x="0" y="53357"/>
                </a:cubicBezTo>
                <a:lnTo>
                  <a:pt x="0" y="53357"/>
                </a:lnTo>
                <a:cubicBezTo>
                  <a:pt x="0" y="23889"/>
                  <a:pt x="23889" y="0"/>
                  <a:pt x="53357" y="0"/>
                </a:cubicBez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7571298" y="4348569"/>
            <a:ext cx="4099571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F1F5F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FocusReward target (Year 3)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53425" y="4931046"/>
            <a:ext cx="4473068" cy="1920840"/>
          </a:xfrm>
          <a:custGeom>
            <a:avLst/>
            <a:gdLst/>
            <a:ahLst/>
            <a:cxnLst/>
            <a:rect l="l" t="t" r="r" b="b"/>
            <a:pathLst>
              <a:path w="4473068" h="1920840">
                <a:moveTo>
                  <a:pt x="142277" y="0"/>
                </a:moveTo>
                <a:lnTo>
                  <a:pt x="4330791" y="0"/>
                </a:lnTo>
                <a:cubicBezTo>
                  <a:pt x="4409368" y="0"/>
                  <a:pt x="4473068" y="63699"/>
                  <a:pt x="4473068" y="142277"/>
                </a:cubicBezTo>
                <a:lnTo>
                  <a:pt x="4473068" y="1778564"/>
                </a:lnTo>
                <a:cubicBezTo>
                  <a:pt x="4473068" y="1857141"/>
                  <a:pt x="4409368" y="1920840"/>
                  <a:pt x="4330791" y="1920840"/>
                </a:cubicBezTo>
                <a:lnTo>
                  <a:pt x="142277" y="1920840"/>
                </a:lnTo>
                <a:cubicBezTo>
                  <a:pt x="63699" y="1920840"/>
                  <a:pt x="0" y="1857141"/>
                  <a:pt x="0" y="1778564"/>
                </a:cubicBezTo>
                <a:lnTo>
                  <a:pt x="0" y="142277"/>
                </a:lnTo>
                <a:cubicBezTo>
                  <a:pt x="0" y="63699"/>
                  <a:pt x="63699" y="0"/>
                  <a:pt x="14227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77713" y="5148919"/>
            <a:ext cx="426853" cy="426853"/>
          </a:xfrm>
          <a:custGeom>
            <a:avLst/>
            <a:gdLst/>
            <a:ahLst/>
            <a:cxnLst/>
            <a:rect l="l" t="t" r="r" b="b"/>
            <a:pathLst>
              <a:path w="426853" h="426853">
                <a:moveTo>
                  <a:pt x="373497" y="213427"/>
                </a:moveTo>
                <a:cubicBezTo>
                  <a:pt x="373497" y="125082"/>
                  <a:pt x="301772" y="53357"/>
                  <a:pt x="213427" y="53357"/>
                </a:cubicBezTo>
                <a:cubicBezTo>
                  <a:pt x="125082" y="53357"/>
                  <a:pt x="53357" y="125082"/>
                  <a:pt x="53357" y="213427"/>
                </a:cubicBezTo>
                <a:cubicBezTo>
                  <a:pt x="53357" y="301772"/>
                  <a:pt x="125082" y="373497"/>
                  <a:pt x="213427" y="373497"/>
                </a:cubicBezTo>
                <a:cubicBezTo>
                  <a:pt x="301772" y="373497"/>
                  <a:pt x="373497" y="301772"/>
                  <a:pt x="373497" y="213427"/>
                </a:cubicBezTo>
                <a:close/>
                <a:moveTo>
                  <a:pt x="0" y="213427"/>
                </a:moveTo>
                <a:cubicBezTo>
                  <a:pt x="0" y="95633"/>
                  <a:pt x="95633" y="0"/>
                  <a:pt x="213427" y="0"/>
                </a:cubicBezTo>
                <a:cubicBezTo>
                  <a:pt x="331220" y="0"/>
                  <a:pt x="426853" y="95633"/>
                  <a:pt x="426853" y="213427"/>
                </a:cubicBezTo>
                <a:cubicBezTo>
                  <a:pt x="426853" y="331220"/>
                  <a:pt x="331220" y="426853"/>
                  <a:pt x="213427" y="426853"/>
                </a:cubicBezTo>
                <a:cubicBezTo>
                  <a:pt x="95633" y="426853"/>
                  <a:pt x="0" y="331220"/>
                  <a:pt x="0" y="213427"/>
                </a:cubicBezTo>
                <a:close/>
                <a:moveTo>
                  <a:pt x="213427" y="280123"/>
                </a:moveTo>
                <a:cubicBezTo>
                  <a:pt x="250237" y="280123"/>
                  <a:pt x="280123" y="250237"/>
                  <a:pt x="280123" y="213427"/>
                </a:cubicBezTo>
                <a:cubicBezTo>
                  <a:pt x="280123" y="176616"/>
                  <a:pt x="250237" y="146731"/>
                  <a:pt x="213427" y="146731"/>
                </a:cubicBezTo>
                <a:cubicBezTo>
                  <a:pt x="176616" y="146731"/>
                  <a:pt x="146731" y="176616"/>
                  <a:pt x="146731" y="213427"/>
                </a:cubicBezTo>
                <a:cubicBezTo>
                  <a:pt x="146731" y="250237"/>
                  <a:pt x="176616" y="280123"/>
                  <a:pt x="213427" y="280123"/>
                </a:cubicBezTo>
                <a:close/>
                <a:moveTo>
                  <a:pt x="213427" y="93374"/>
                </a:moveTo>
                <a:cubicBezTo>
                  <a:pt x="279685" y="93374"/>
                  <a:pt x="333479" y="147168"/>
                  <a:pt x="333479" y="213427"/>
                </a:cubicBezTo>
                <a:cubicBezTo>
                  <a:pt x="333479" y="279685"/>
                  <a:pt x="279685" y="333479"/>
                  <a:pt x="213427" y="333479"/>
                </a:cubicBezTo>
                <a:cubicBezTo>
                  <a:pt x="147168" y="333479"/>
                  <a:pt x="93374" y="279685"/>
                  <a:pt x="93374" y="213427"/>
                </a:cubicBezTo>
                <a:cubicBezTo>
                  <a:pt x="93374" y="147168"/>
                  <a:pt x="147168" y="93374"/>
                  <a:pt x="213427" y="93374"/>
                </a:cubicBezTo>
                <a:close/>
                <a:moveTo>
                  <a:pt x="186748" y="213427"/>
                </a:moveTo>
                <a:cubicBezTo>
                  <a:pt x="186748" y="198703"/>
                  <a:pt x="198703" y="186748"/>
                  <a:pt x="213427" y="186748"/>
                </a:cubicBezTo>
                <a:cubicBezTo>
                  <a:pt x="228151" y="186748"/>
                  <a:pt x="240105" y="198703"/>
                  <a:pt x="240105" y="213427"/>
                </a:cubicBezTo>
                <a:cubicBezTo>
                  <a:pt x="240105" y="228151"/>
                  <a:pt x="228151" y="240105"/>
                  <a:pt x="213427" y="240105"/>
                </a:cubicBezTo>
                <a:cubicBezTo>
                  <a:pt x="198703" y="240105"/>
                  <a:pt x="186748" y="228151"/>
                  <a:pt x="186748" y="21342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4" name="Text 42"/>
          <p:cNvSpPr/>
          <p:nvPr/>
        </p:nvSpPr>
        <p:spPr>
          <a:xfrm>
            <a:off x="7517941" y="5718057"/>
            <a:ext cx="4144035" cy="28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1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White Space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31281" y="6109339"/>
            <a:ext cx="4117357" cy="524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60" dirty="0">
                <a:solidFill>
                  <a:srgbClr val="F1F5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sit at the intersection of content delivery and outcome measurement - a gap no one else fills.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57" y="362857"/>
            <a:ext cx="11538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spc="114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857" y="653143"/>
            <a:ext cx="11684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29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FocusReward Wins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2857" y="1161143"/>
            <a:ext cx="1155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don't compete with content - we make content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393" y="1564821"/>
            <a:ext cx="11457214" cy="1170214"/>
          </a:xfrm>
          <a:custGeom>
            <a:avLst/>
            <a:gdLst/>
            <a:ahLst/>
            <a:cxnLst/>
            <a:rect l="l" t="t" r="r" b="b"/>
            <a:pathLst>
              <a:path w="11457214" h="1170214">
                <a:moveTo>
                  <a:pt x="145142" y="0"/>
                </a:moveTo>
                <a:lnTo>
                  <a:pt x="11312073" y="0"/>
                </a:lnTo>
                <a:cubicBezTo>
                  <a:pt x="11392232" y="0"/>
                  <a:pt x="11457214" y="64982"/>
                  <a:pt x="11457214" y="145142"/>
                </a:cubicBezTo>
                <a:lnTo>
                  <a:pt x="11457214" y="1025073"/>
                </a:lnTo>
                <a:cubicBezTo>
                  <a:pt x="11457214" y="1105232"/>
                  <a:pt x="11392232" y="1170214"/>
                  <a:pt x="11312073" y="1170214"/>
                </a:cubicBezTo>
                <a:lnTo>
                  <a:pt x="145142" y="1170214"/>
                </a:lnTo>
                <a:cubicBezTo>
                  <a:pt x="65036" y="1170214"/>
                  <a:pt x="0" y="1105178"/>
                  <a:pt x="0" y="1025073"/>
                </a:cubicBezTo>
                <a:lnTo>
                  <a:pt x="0" y="145142"/>
                </a:lnTo>
                <a:cubicBezTo>
                  <a:pt x="0" y="65036"/>
                  <a:pt x="65036" y="0"/>
                  <a:pt x="14514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357" y="1841500"/>
            <a:ext cx="2739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357" y="2131786"/>
            <a:ext cx="2803071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Coursera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60964" y="1750786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06107" y="1895929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6107" y="2149929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Delivery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68571" y="1750786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13714" y="1895929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3714" y="2149929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76179" y="1750786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21321" y="1895929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21321" y="2149929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7393" y="2889250"/>
            <a:ext cx="11457214" cy="1170214"/>
          </a:xfrm>
          <a:custGeom>
            <a:avLst/>
            <a:gdLst/>
            <a:ahLst/>
            <a:cxnLst/>
            <a:rect l="l" t="t" r="r" b="b"/>
            <a:pathLst>
              <a:path w="11457214" h="1170214">
                <a:moveTo>
                  <a:pt x="145142" y="0"/>
                </a:moveTo>
                <a:lnTo>
                  <a:pt x="11312073" y="0"/>
                </a:lnTo>
                <a:cubicBezTo>
                  <a:pt x="11392232" y="0"/>
                  <a:pt x="11457214" y="64982"/>
                  <a:pt x="11457214" y="145142"/>
                </a:cubicBezTo>
                <a:lnTo>
                  <a:pt x="11457214" y="1025073"/>
                </a:lnTo>
                <a:cubicBezTo>
                  <a:pt x="11457214" y="1105232"/>
                  <a:pt x="11392232" y="1170214"/>
                  <a:pt x="11312073" y="1170214"/>
                </a:cubicBezTo>
                <a:lnTo>
                  <a:pt x="145142" y="1170214"/>
                </a:lnTo>
                <a:cubicBezTo>
                  <a:pt x="65036" y="1170214"/>
                  <a:pt x="0" y="1105178"/>
                  <a:pt x="0" y="1025073"/>
                </a:cubicBezTo>
                <a:lnTo>
                  <a:pt x="0" y="145142"/>
                </a:lnTo>
                <a:cubicBezTo>
                  <a:pt x="0" y="65036"/>
                  <a:pt x="65036" y="0"/>
                  <a:pt x="14514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357" y="3165929"/>
            <a:ext cx="2739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357" y="3456214"/>
            <a:ext cx="2803071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Udemy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60964" y="3075214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06107" y="3220357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6107" y="3474357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Marketplace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8571" y="3075214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13714" y="3220357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13714" y="3474357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76179" y="3075214"/>
            <a:ext cx="2667000" cy="798286"/>
          </a:xfrm>
          <a:custGeom>
            <a:avLst/>
            <a:gdLst/>
            <a:ahLst/>
            <a:cxnLst/>
            <a:rect l="l" t="t" r="r" b="b"/>
            <a:pathLst>
              <a:path w="2667000" h="798286">
                <a:moveTo>
                  <a:pt x="108854" y="0"/>
                </a:moveTo>
                <a:lnTo>
                  <a:pt x="2558146" y="0"/>
                </a:lnTo>
                <a:cubicBezTo>
                  <a:pt x="2618264" y="0"/>
                  <a:pt x="2667000" y="48736"/>
                  <a:pt x="2667000" y="108854"/>
                </a:cubicBezTo>
                <a:lnTo>
                  <a:pt x="2667000" y="689431"/>
                </a:lnTo>
                <a:cubicBezTo>
                  <a:pt x="2667000" y="749550"/>
                  <a:pt x="2618264" y="798286"/>
                  <a:pt x="2558146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21321" y="3220357"/>
            <a:ext cx="2449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21321" y="3474357"/>
            <a:ext cx="2467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9C4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1929" y="4218214"/>
            <a:ext cx="11448143" cy="1179286"/>
          </a:xfrm>
          <a:custGeom>
            <a:avLst/>
            <a:gdLst/>
            <a:ahLst/>
            <a:cxnLst/>
            <a:rect l="l" t="t" r="r" b="b"/>
            <a:pathLst>
              <a:path w="11448143" h="1179286">
                <a:moveTo>
                  <a:pt x="145146" y="0"/>
                </a:moveTo>
                <a:lnTo>
                  <a:pt x="11302996" y="0"/>
                </a:lnTo>
                <a:cubicBezTo>
                  <a:pt x="11383159" y="0"/>
                  <a:pt x="11448143" y="64984"/>
                  <a:pt x="11448143" y="145146"/>
                </a:cubicBezTo>
                <a:lnTo>
                  <a:pt x="11448143" y="1034139"/>
                </a:lnTo>
                <a:cubicBezTo>
                  <a:pt x="11448143" y="1114301"/>
                  <a:pt x="11383159" y="1179286"/>
                  <a:pt x="11302996" y="1179286"/>
                </a:cubicBezTo>
                <a:lnTo>
                  <a:pt x="145146" y="1179286"/>
                </a:lnTo>
                <a:cubicBezTo>
                  <a:pt x="65038" y="1179286"/>
                  <a:pt x="0" y="1114248"/>
                  <a:pt x="0" y="1034139"/>
                </a:cubicBezTo>
                <a:lnTo>
                  <a:pt x="0" y="145146"/>
                </a:lnTo>
                <a:cubicBezTo>
                  <a:pt x="0" y="65038"/>
                  <a:pt x="65038" y="0"/>
                  <a:pt x="145146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F8A">
                  <a:alpha val="50000"/>
                </a:srgbClr>
              </a:gs>
              <a:gs pos="100000">
                <a:srgbClr val="E9C46A">
                  <a:alpha val="50000"/>
                </a:srgbClr>
              </a:gs>
            </a:gsLst>
            <a:lin ang="0" scaled="1"/>
          </a:gradFill>
          <a:ln w="25400">
            <a:solidFill>
              <a:srgbClr val="3D8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429" y="4499429"/>
            <a:ext cx="2730500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429" y="4789714"/>
            <a:ext cx="2794000" cy="32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3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FocusReward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65500" y="4408714"/>
            <a:ext cx="2657929" cy="798286"/>
          </a:xfrm>
          <a:custGeom>
            <a:avLst/>
            <a:gdLst/>
            <a:ahLst/>
            <a:cxnLst/>
            <a:rect l="l" t="t" r="r" b="b"/>
            <a:pathLst>
              <a:path w="2657929" h="798286">
                <a:moveTo>
                  <a:pt x="108854" y="0"/>
                </a:moveTo>
                <a:lnTo>
                  <a:pt x="2549074" y="0"/>
                </a:lnTo>
                <a:cubicBezTo>
                  <a:pt x="2609193" y="0"/>
                  <a:pt x="2657929" y="48736"/>
                  <a:pt x="2657929" y="108854"/>
                </a:cubicBezTo>
                <a:lnTo>
                  <a:pt x="2657929" y="689431"/>
                </a:lnTo>
                <a:cubicBezTo>
                  <a:pt x="2657929" y="749550"/>
                  <a:pt x="2609193" y="798286"/>
                  <a:pt x="2549074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10643" y="4553857"/>
            <a:ext cx="2440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10643" y="4807857"/>
            <a:ext cx="2458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 + Outcomes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68571" y="4408714"/>
            <a:ext cx="2657929" cy="798286"/>
          </a:xfrm>
          <a:custGeom>
            <a:avLst/>
            <a:gdLst/>
            <a:ahLst/>
            <a:cxnLst/>
            <a:rect l="l" t="t" r="r" b="b"/>
            <a:pathLst>
              <a:path w="2657929" h="798286">
                <a:moveTo>
                  <a:pt x="108854" y="0"/>
                </a:moveTo>
                <a:lnTo>
                  <a:pt x="2549074" y="0"/>
                </a:lnTo>
                <a:cubicBezTo>
                  <a:pt x="2609193" y="0"/>
                  <a:pt x="2657929" y="48736"/>
                  <a:pt x="2657929" y="108854"/>
                </a:cubicBezTo>
                <a:lnTo>
                  <a:pt x="2657929" y="689431"/>
                </a:lnTo>
                <a:cubicBezTo>
                  <a:pt x="2657929" y="749550"/>
                  <a:pt x="2609193" y="798286"/>
                  <a:pt x="2549074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13714" y="4553857"/>
            <a:ext cx="2440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13714" y="4807857"/>
            <a:ext cx="2458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45-75%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71643" y="4408714"/>
            <a:ext cx="2657929" cy="798286"/>
          </a:xfrm>
          <a:custGeom>
            <a:avLst/>
            <a:gdLst/>
            <a:ahLst/>
            <a:cxnLst/>
            <a:rect l="l" t="t" r="r" b="b"/>
            <a:pathLst>
              <a:path w="2657929" h="798286">
                <a:moveTo>
                  <a:pt x="108854" y="0"/>
                </a:moveTo>
                <a:lnTo>
                  <a:pt x="2549074" y="0"/>
                </a:lnTo>
                <a:cubicBezTo>
                  <a:pt x="2609193" y="0"/>
                  <a:pt x="2657929" y="48736"/>
                  <a:pt x="2657929" y="108854"/>
                </a:cubicBezTo>
                <a:lnTo>
                  <a:pt x="2657929" y="689431"/>
                </a:lnTo>
                <a:cubicBezTo>
                  <a:pt x="2657929" y="749550"/>
                  <a:pt x="2609193" y="798286"/>
                  <a:pt x="2549074" y="798286"/>
                </a:cubicBezTo>
                <a:lnTo>
                  <a:pt x="108854" y="798286"/>
                </a:lnTo>
                <a:cubicBezTo>
                  <a:pt x="48736" y="798286"/>
                  <a:pt x="0" y="749550"/>
                  <a:pt x="0" y="689431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116786" y="4553857"/>
            <a:ext cx="24402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16786" y="4807857"/>
            <a:ext cx="245835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Stack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7393" y="5556250"/>
            <a:ext cx="3719286" cy="1297214"/>
          </a:xfrm>
          <a:custGeom>
            <a:avLst/>
            <a:gdLst/>
            <a:ahLst/>
            <a:cxnLst/>
            <a:rect l="l" t="t" r="r" b="b"/>
            <a:pathLst>
              <a:path w="3719286" h="1297214">
                <a:moveTo>
                  <a:pt x="108862" y="0"/>
                </a:moveTo>
                <a:lnTo>
                  <a:pt x="3610423" y="0"/>
                </a:lnTo>
                <a:cubicBezTo>
                  <a:pt x="3670546" y="0"/>
                  <a:pt x="3719286" y="48739"/>
                  <a:pt x="3719286" y="108862"/>
                </a:cubicBezTo>
                <a:lnTo>
                  <a:pt x="3719286" y="1188352"/>
                </a:lnTo>
                <a:cubicBezTo>
                  <a:pt x="3719286" y="1248475"/>
                  <a:pt x="3670546" y="1297214"/>
                  <a:pt x="3610423" y="1297214"/>
                </a:cubicBezTo>
                <a:lnTo>
                  <a:pt x="108862" y="1297214"/>
                </a:lnTo>
                <a:cubicBezTo>
                  <a:pt x="48739" y="1297214"/>
                  <a:pt x="0" y="1248475"/>
                  <a:pt x="0" y="1188352"/>
                </a:cubicBezTo>
                <a:lnTo>
                  <a:pt x="0" y="108862"/>
                </a:lnTo>
                <a:cubicBezTo>
                  <a:pt x="0" y="48780"/>
                  <a:pt x="48780" y="0"/>
                  <a:pt x="108862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91673" y="5742214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36071" y="272143"/>
                </a:moveTo>
                <a:cubicBezTo>
                  <a:pt x="211171" y="272143"/>
                  <a:pt x="272143" y="211171"/>
                  <a:pt x="272143" y="136071"/>
                </a:cubicBezTo>
                <a:cubicBezTo>
                  <a:pt x="272143" y="60972"/>
                  <a:pt x="211171" y="0"/>
                  <a:pt x="136071" y="0"/>
                </a:cubicBezTo>
                <a:cubicBezTo>
                  <a:pt x="60972" y="0"/>
                  <a:pt x="0" y="60972"/>
                  <a:pt x="0" y="136071"/>
                </a:cubicBezTo>
                <a:cubicBezTo>
                  <a:pt x="0" y="211171"/>
                  <a:pt x="60972" y="272143"/>
                  <a:pt x="136071" y="272143"/>
                </a:cubicBezTo>
                <a:close/>
                <a:moveTo>
                  <a:pt x="180932" y="113056"/>
                </a:moveTo>
                <a:lnTo>
                  <a:pt x="138410" y="181092"/>
                </a:lnTo>
                <a:cubicBezTo>
                  <a:pt x="136178" y="184653"/>
                  <a:pt x="132351" y="186886"/>
                  <a:pt x="128152" y="187098"/>
                </a:cubicBezTo>
                <a:cubicBezTo>
                  <a:pt x="123953" y="187311"/>
                  <a:pt x="119913" y="185397"/>
                  <a:pt x="117415" y="181996"/>
                </a:cubicBezTo>
                <a:lnTo>
                  <a:pt x="91901" y="147978"/>
                </a:lnTo>
                <a:cubicBezTo>
                  <a:pt x="87649" y="142343"/>
                  <a:pt x="88818" y="134371"/>
                  <a:pt x="94453" y="130118"/>
                </a:cubicBezTo>
                <a:cubicBezTo>
                  <a:pt x="100087" y="125866"/>
                  <a:pt x="108060" y="127035"/>
                  <a:pt x="112312" y="132670"/>
                </a:cubicBezTo>
                <a:lnTo>
                  <a:pt x="126663" y="151805"/>
                </a:lnTo>
                <a:lnTo>
                  <a:pt x="159299" y="99555"/>
                </a:lnTo>
                <a:cubicBezTo>
                  <a:pt x="163020" y="93602"/>
                  <a:pt x="170887" y="91742"/>
                  <a:pt x="176893" y="95516"/>
                </a:cubicBezTo>
                <a:cubicBezTo>
                  <a:pt x="182899" y="99290"/>
                  <a:pt x="184706" y="107103"/>
                  <a:pt x="180932" y="11310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512536" y="6123214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Tracking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7071" y="6449786"/>
            <a:ext cx="3419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engagement monitoring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237845" y="5556250"/>
            <a:ext cx="3719286" cy="1297214"/>
          </a:xfrm>
          <a:custGeom>
            <a:avLst/>
            <a:gdLst/>
            <a:ahLst/>
            <a:cxnLst/>
            <a:rect l="l" t="t" r="r" b="b"/>
            <a:pathLst>
              <a:path w="3719286" h="1297214">
                <a:moveTo>
                  <a:pt x="108862" y="0"/>
                </a:moveTo>
                <a:lnTo>
                  <a:pt x="3610423" y="0"/>
                </a:lnTo>
                <a:cubicBezTo>
                  <a:pt x="3670546" y="0"/>
                  <a:pt x="3719286" y="48739"/>
                  <a:pt x="3719286" y="108862"/>
                </a:cubicBezTo>
                <a:lnTo>
                  <a:pt x="3719286" y="1188352"/>
                </a:lnTo>
                <a:cubicBezTo>
                  <a:pt x="3719286" y="1248475"/>
                  <a:pt x="3670546" y="1297214"/>
                  <a:pt x="3610423" y="1297214"/>
                </a:cubicBezTo>
                <a:lnTo>
                  <a:pt x="108862" y="1297214"/>
                </a:lnTo>
                <a:cubicBezTo>
                  <a:pt x="48739" y="1297214"/>
                  <a:pt x="0" y="1248475"/>
                  <a:pt x="0" y="1188352"/>
                </a:cubicBezTo>
                <a:lnTo>
                  <a:pt x="0" y="108862"/>
                </a:lnTo>
                <a:cubicBezTo>
                  <a:pt x="0" y="48780"/>
                  <a:pt x="48780" y="0"/>
                  <a:pt x="108862" y="0"/>
                </a:cubicBezTo>
                <a:close/>
              </a:path>
            </a:pathLst>
          </a:custGeom>
          <a:solidFill>
            <a:srgbClr val="E9C46A">
              <a:alpha val="20000"/>
            </a:srgbClr>
          </a:solidFill>
          <a:ln w="1270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62126" y="5742214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36071" y="272143"/>
                </a:moveTo>
                <a:cubicBezTo>
                  <a:pt x="211171" y="272143"/>
                  <a:pt x="272143" y="211171"/>
                  <a:pt x="272143" y="136071"/>
                </a:cubicBezTo>
                <a:cubicBezTo>
                  <a:pt x="272143" y="60972"/>
                  <a:pt x="211171" y="0"/>
                  <a:pt x="136071" y="0"/>
                </a:cubicBezTo>
                <a:cubicBezTo>
                  <a:pt x="60972" y="0"/>
                  <a:pt x="0" y="60972"/>
                  <a:pt x="0" y="136071"/>
                </a:cubicBezTo>
                <a:cubicBezTo>
                  <a:pt x="0" y="211171"/>
                  <a:pt x="60972" y="272143"/>
                  <a:pt x="136071" y="272143"/>
                </a:cubicBezTo>
                <a:close/>
                <a:moveTo>
                  <a:pt x="180932" y="113056"/>
                </a:moveTo>
                <a:lnTo>
                  <a:pt x="138410" y="181092"/>
                </a:lnTo>
                <a:cubicBezTo>
                  <a:pt x="136178" y="184653"/>
                  <a:pt x="132351" y="186886"/>
                  <a:pt x="128152" y="187098"/>
                </a:cubicBezTo>
                <a:cubicBezTo>
                  <a:pt x="123953" y="187311"/>
                  <a:pt x="119913" y="185397"/>
                  <a:pt x="117415" y="181996"/>
                </a:cubicBezTo>
                <a:lnTo>
                  <a:pt x="91901" y="147978"/>
                </a:lnTo>
                <a:cubicBezTo>
                  <a:pt x="87649" y="142343"/>
                  <a:pt x="88818" y="134371"/>
                  <a:pt x="94453" y="130118"/>
                </a:cubicBezTo>
                <a:cubicBezTo>
                  <a:pt x="100087" y="125866"/>
                  <a:pt x="108060" y="127035"/>
                  <a:pt x="112312" y="132670"/>
                </a:cubicBezTo>
                <a:lnTo>
                  <a:pt x="126663" y="151805"/>
                </a:lnTo>
                <a:lnTo>
                  <a:pt x="159299" y="99555"/>
                </a:lnTo>
                <a:cubicBezTo>
                  <a:pt x="163020" y="93602"/>
                  <a:pt x="170887" y="91742"/>
                  <a:pt x="176893" y="95516"/>
                </a:cubicBezTo>
                <a:cubicBezTo>
                  <a:pt x="182899" y="99290"/>
                  <a:pt x="184706" y="107103"/>
                  <a:pt x="180932" y="113109"/>
                </a:cubicBez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47" name="Text 45"/>
          <p:cNvSpPr/>
          <p:nvPr/>
        </p:nvSpPr>
        <p:spPr>
          <a:xfrm>
            <a:off x="4382988" y="6123214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Incentive Engineering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87524" y="6449786"/>
            <a:ext cx="3419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Gamified reward systems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8298" y="5556250"/>
            <a:ext cx="3719286" cy="1297214"/>
          </a:xfrm>
          <a:custGeom>
            <a:avLst/>
            <a:gdLst/>
            <a:ahLst/>
            <a:cxnLst/>
            <a:rect l="l" t="t" r="r" b="b"/>
            <a:pathLst>
              <a:path w="3719286" h="1297214">
                <a:moveTo>
                  <a:pt x="108862" y="0"/>
                </a:moveTo>
                <a:lnTo>
                  <a:pt x="3610423" y="0"/>
                </a:lnTo>
                <a:cubicBezTo>
                  <a:pt x="3670546" y="0"/>
                  <a:pt x="3719286" y="48739"/>
                  <a:pt x="3719286" y="108862"/>
                </a:cubicBezTo>
                <a:lnTo>
                  <a:pt x="3719286" y="1188352"/>
                </a:lnTo>
                <a:cubicBezTo>
                  <a:pt x="3719286" y="1248475"/>
                  <a:pt x="3670546" y="1297214"/>
                  <a:pt x="3610423" y="1297214"/>
                </a:cubicBezTo>
                <a:lnTo>
                  <a:pt x="108862" y="1297214"/>
                </a:lnTo>
                <a:cubicBezTo>
                  <a:pt x="48739" y="1297214"/>
                  <a:pt x="0" y="1248475"/>
                  <a:pt x="0" y="1188352"/>
                </a:cubicBezTo>
                <a:lnTo>
                  <a:pt x="0" y="108862"/>
                </a:lnTo>
                <a:cubicBezTo>
                  <a:pt x="0" y="48780"/>
                  <a:pt x="48780" y="0"/>
                  <a:pt x="10886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32578" y="5742214"/>
            <a:ext cx="272143" cy="272143"/>
          </a:xfrm>
          <a:custGeom>
            <a:avLst/>
            <a:gdLst/>
            <a:ahLst/>
            <a:cxnLst/>
            <a:rect l="l" t="t" r="r" b="b"/>
            <a:pathLst>
              <a:path w="272143" h="272143">
                <a:moveTo>
                  <a:pt x="136071" y="272143"/>
                </a:moveTo>
                <a:cubicBezTo>
                  <a:pt x="211171" y="272143"/>
                  <a:pt x="272143" y="211171"/>
                  <a:pt x="272143" y="136071"/>
                </a:cubicBezTo>
                <a:cubicBezTo>
                  <a:pt x="272143" y="60972"/>
                  <a:pt x="211171" y="0"/>
                  <a:pt x="136071" y="0"/>
                </a:cubicBezTo>
                <a:cubicBezTo>
                  <a:pt x="60972" y="0"/>
                  <a:pt x="0" y="60972"/>
                  <a:pt x="0" y="136071"/>
                </a:cubicBezTo>
                <a:cubicBezTo>
                  <a:pt x="0" y="211171"/>
                  <a:pt x="60972" y="272143"/>
                  <a:pt x="136071" y="272143"/>
                </a:cubicBezTo>
                <a:close/>
                <a:moveTo>
                  <a:pt x="180932" y="113056"/>
                </a:moveTo>
                <a:lnTo>
                  <a:pt x="138410" y="181092"/>
                </a:lnTo>
                <a:cubicBezTo>
                  <a:pt x="136178" y="184653"/>
                  <a:pt x="132351" y="186886"/>
                  <a:pt x="128152" y="187098"/>
                </a:cubicBezTo>
                <a:cubicBezTo>
                  <a:pt x="123953" y="187311"/>
                  <a:pt x="119913" y="185397"/>
                  <a:pt x="117415" y="181996"/>
                </a:cubicBezTo>
                <a:lnTo>
                  <a:pt x="91901" y="147978"/>
                </a:lnTo>
                <a:cubicBezTo>
                  <a:pt x="87649" y="142343"/>
                  <a:pt x="88818" y="134371"/>
                  <a:pt x="94453" y="130118"/>
                </a:cubicBezTo>
                <a:cubicBezTo>
                  <a:pt x="100087" y="125866"/>
                  <a:pt x="108060" y="127035"/>
                  <a:pt x="112312" y="132670"/>
                </a:cubicBezTo>
                <a:lnTo>
                  <a:pt x="126663" y="151805"/>
                </a:lnTo>
                <a:lnTo>
                  <a:pt x="159299" y="99555"/>
                </a:lnTo>
                <a:cubicBezTo>
                  <a:pt x="163020" y="93602"/>
                  <a:pt x="170887" y="91742"/>
                  <a:pt x="176893" y="95516"/>
                </a:cubicBezTo>
                <a:cubicBezTo>
                  <a:pt x="182899" y="99290"/>
                  <a:pt x="184706" y="107103"/>
                  <a:pt x="180932" y="113109"/>
                </a:cubicBez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51" name="Text 49"/>
          <p:cNvSpPr/>
          <p:nvPr/>
        </p:nvSpPr>
        <p:spPr>
          <a:xfrm>
            <a:off x="8253441" y="6123214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6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Analytics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257977" y="6449786"/>
            <a:ext cx="34199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43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visibility for L&amp;D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stockcake.com/public/1/5/3/153db9d6-00d2-4d9c-bb71-aeba9ca0662a_large/waves-meet-architecture-stockcake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73" b="773"/>
          <a:stretch/>
        </p:blipFill>
        <p:spPr>
          <a:xfrm>
            <a:off x="0" y="0"/>
            <a:ext cx="12192000" cy="685912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22"/>
          </a:xfrm>
          <a:custGeom>
            <a:avLst/>
            <a:gdLst/>
            <a:ahLst/>
            <a:cxnLst/>
            <a:rect l="l" t="t" r="r" b="b"/>
            <a:pathLst>
              <a:path w="12192000" h="6859122">
                <a:moveTo>
                  <a:pt x="0" y="0"/>
                </a:moveTo>
                <a:lnTo>
                  <a:pt x="12192000" y="0"/>
                </a:lnTo>
                <a:lnTo>
                  <a:pt x="12192000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D8F8A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71747" y="-190781"/>
            <a:ext cx="2046963" cy="475829"/>
          </a:xfrm>
          <a:custGeom>
            <a:avLst/>
            <a:gdLst/>
            <a:ahLst/>
            <a:cxnLst/>
            <a:rect l="l" t="t" r="r" b="b"/>
            <a:pathLst>
              <a:path w="2046963" h="475829">
                <a:moveTo>
                  <a:pt x="237915" y="0"/>
                </a:moveTo>
                <a:lnTo>
                  <a:pt x="1809049" y="0"/>
                </a:lnTo>
                <a:cubicBezTo>
                  <a:pt x="1940445" y="0"/>
                  <a:pt x="2046963" y="106518"/>
                  <a:pt x="2046963" y="237915"/>
                </a:cubicBezTo>
                <a:lnTo>
                  <a:pt x="2046963" y="237915"/>
                </a:lnTo>
                <a:cubicBezTo>
                  <a:pt x="2046963" y="369311"/>
                  <a:pt x="1940445" y="475829"/>
                  <a:pt x="1809049" y="475829"/>
                </a:cubicBezTo>
                <a:lnTo>
                  <a:pt x="237915" y="475829"/>
                </a:lnTo>
                <a:cubicBezTo>
                  <a:pt x="106606" y="475829"/>
                  <a:pt x="0" y="369223"/>
                  <a:pt x="0" y="237915"/>
                </a:cubicBezTo>
                <a:lnTo>
                  <a:pt x="0" y="237915"/>
                </a:lnTo>
                <a:cubicBezTo>
                  <a:pt x="0" y="106606"/>
                  <a:pt x="106606" y="0"/>
                  <a:pt x="23791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51305" y="-42645"/>
            <a:ext cx="169135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2" b="1" spc="127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48261" y="935947"/>
            <a:ext cx="6293514" cy="1616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09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Build the Future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090" b="1" dirty="0">
                <a:solidFill>
                  <a:srgbClr val="F1F5F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78749" y="2839264"/>
            <a:ext cx="1436465" cy="0"/>
          </a:xfrm>
          <a:custGeom>
            <a:avLst/>
            <a:gdLst/>
            <a:ahLst/>
            <a:cxnLst/>
            <a:rect l="l" t="t" r="r" b="b"/>
            <a:pathLst>
              <a:path w="1436465" h="0">
                <a:moveTo>
                  <a:pt x="0" y="0"/>
                </a:moveTo>
                <a:lnTo>
                  <a:pt x="1436465" y="0"/>
                </a:lnTo>
                <a:lnTo>
                  <a:pt x="1436465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8" name="Text 5"/>
          <p:cNvSpPr/>
          <p:nvPr/>
        </p:nvSpPr>
        <p:spPr>
          <a:xfrm>
            <a:off x="2292593" y="3198380"/>
            <a:ext cx="7613267" cy="879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121" dirty="0">
                <a:solidFill>
                  <a:srgbClr val="F1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FocusReward transforms learning from passive consumption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121" dirty="0">
                <a:solidFill>
                  <a:srgbClr val="F1F5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measurable outcomes. Join us in solving the completion crisis.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61888" y="4648312"/>
            <a:ext cx="718233" cy="718233"/>
          </a:xfrm>
          <a:custGeom>
            <a:avLst/>
            <a:gdLst/>
            <a:ahLst/>
            <a:cxnLst/>
            <a:rect l="l" t="t" r="r" b="b"/>
            <a:pathLst>
              <a:path w="718233" h="718233">
                <a:moveTo>
                  <a:pt x="143647" y="0"/>
                </a:moveTo>
                <a:lnTo>
                  <a:pt x="574586" y="0"/>
                </a:lnTo>
                <a:cubicBezTo>
                  <a:pt x="653920" y="0"/>
                  <a:pt x="718233" y="64313"/>
                  <a:pt x="718233" y="143647"/>
                </a:cubicBezTo>
                <a:lnTo>
                  <a:pt x="718233" y="574586"/>
                </a:lnTo>
                <a:cubicBezTo>
                  <a:pt x="718233" y="653920"/>
                  <a:pt x="653920" y="718233"/>
                  <a:pt x="574586" y="718233"/>
                </a:cubicBezTo>
                <a:lnTo>
                  <a:pt x="143647" y="718233"/>
                </a:lnTo>
                <a:cubicBezTo>
                  <a:pt x="64313" y="718233"/>
                  <a:pt x="0" y="653920"/>
                  <a:pt x="0" y="574586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259402" y="4845826"/>
            <a:ext cx="323205" cy="323205"/>
          </a:xfrm>
          <a:custGeom>
            <a:avLst/>
            <a:gdLst/>
            <a:ahLst/>
            <a:cxnLst/>
            <a:rect l="l" t="t" r="r" b="b"/>
            <a:pathLst>
              <a:path w="323205" h="323205">
                <a:moveTo>
                  <a:pt x="80801" y="202003"/>
                </a:moveTo>
                <a:lnTo>
                  <a:pt x="15466" y="202003"/>
                </a:lnTo>
                <a:cubicBezTo>
                  <a:pt x="-253" y="202003"/>
                  <a:pt x="-9911" y="184896"/>
                  <a:pt x="-1831" y="171387"/>
                </a:cubicBezTo>
                <a:lnTo>
                  <a:pt x="31563" y="115710"/>
                </a:lnTo>
                <a:cubicBezTo>
                  <a:pt x="37055" y="106557"/>
                  <a:pt x="46903" y="101001"/>
                  <a:pt x="57571" y="101001"/>
                </a:cubicBezTo>
                <a:lnTo>
                  <a:pt x="117540" y="101001"/>
                </a:lnTo>
                <a:cubicBezTo>
                  <a:pt x="165579" y="19632"/>
                  <a:pt x="237227" y="15529"/>
                  <a:pt x="285140" y="22536"/>
                </a:cubicBezTo>
                <a:cubicBezTo>
                  <a:pt x="293220" y="23735"/>
                  <a:pt x="299532" y="30048"/>
                  <a:pt x="300669" y="38065"/>
                </a:cubicBezTo>
                <a:cubicBezTo>
                  <a:pt x="307676" y="85978"/>
                  <a:pt x="303573" y="157625"/>
                  <a:pt x="222203" y="205664"/>
                </a:cubicBezTo>
                <a:lnTo>
                  <a:pt x="222203" y="265634"/>
                </a:lnTo>
                <a:cubicBezTo>
                  <a:pt x="222203" y="276302"/>
                  <a:pt x="216648" y="286150"/>
                  <a:pt x="207495" y="291642"/>
                </a:cubicBezTo>
                <a:lnTo>
                  <a:pt x="151818" y="325035"/>
                </a:lnTo>
                <a:cubicBezTo>
                  <a:pt x="138372" y="333115"/>
                  <a:pt x="121202" y="323394"/>
                  <a:pt x="121202" y="307739"/>
                </a:cubicBezTo>
                <a:lnTo>
                  <a:pt x="121202" y="242404"/>
                </a:lnTo>
                <a:cubicBezTo>
                  <a:pt x="121202" y="220120"/>
                  <a:pt x="103085" y="202003"/>
                  <a:pt x="80801" y="202003"/>
                </a:cubicBezTo>
                <a:lnTo>
                  <a:pt x="80738" y="202003"/>
                </a:lnTo>
                <a:close/>
                <a:moveTo>
                  <a:pt x="252504" y="101001"/>
                </a:moveTo>
                <a:cubicBezTo>
                  <a:pt x="252504" y="84278"/>
                  <a:pt x="238927" y="70701"/>
                  <a:pt x="222203" y="70701"/>
                </a:cubicBezTo>
                <a:cubicBezTo>
                  <a:pt x="205480" y="70701"/>
                  <a:pt x="191903" y="84278"/>
                  <a:pt x="191903" y="101001"/>
                </a:cubicBezTo>
                <a:cubicBezTo>
                  <a:pt x="191903" y="117725"/>
                  <a:pt x="205480" y="131302"/>
                  <a:pt x="222203" y="131302"/>
                </a:cubicBezTo>
                <a:cubicBezTo>
                  <a:pt x="238927" y="131302"/>
                  <a:pt x="252504" y="117725"/>
                  <a:pt x="252504" y="10100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8"/>
          <p:cNvSpPr/>
          <p:nvPr/>
        </p:nvSpPr>
        <p:spPr>
          <a:xfrm>
            <a:off x="2244617" y="5546103"/>
            <a:ext cx="235221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Growth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58084" y="5941131"/>
            <a:ext cx="232527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2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3-5x completion rates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37866" y="4648312"/>
            <a:ext cx="718233" cy="718233"/>
          </a:xfrm>
          <a:custGeom>
            <a:avLst/>
            <a:gdLst/>
            <a:ahLst/>
            <a:cxnLst/>
            <a:rect l="l" t="t" r="r" b="b"/>
            <a:pathLst>
              <a:path w="718233" h="718233">
                <a:moveTo>
                  <a:pt x="143647" y="0"/>
                </a:moveTo>
                <a:lnTo>
                  <a:pt x="574586" y="0"/>
                </a:lnTo>
                <a:cubicBezTo>
                  <a:pt x="653920" y="0"/>
                  <a:pt x="718233" y="64313"/>
                  <a:pt x="718233" y="143647"/>
                </a:cubicBezTo>
                <a:lnTo>
                  <a:pt x="718233" y="574586"/>
                </a:lnTo>
                <a:cubicBezTo>
                  <a:pt x="718233" y="653920"/>
                  <a:pt x="653920" y="718233"/>
                  <a:pt x="574586" y="718233"/>
                </a:cubicBezTo>
                <a:lnTo>
                  <a:pt x="143647" y="718233"/>
                </a:lnTo>
                <a:cubicBezTo>
                  <a:pt x="64313" y="718233"/>
                  <a:pt x="0" y="653920"/>
                  <a:pt x="0" y="574586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E9C46A">
              <a:alpha val="3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35380" y="4845826"/>
            <a:ext cx="323205" cy="323205"/>
          </a:xfrm>
          <a:custGeom>
            <a:avLst/>
            <a:gdLst/>
            <a:ahLst/>
            <a:cxnLst/>
            <a:rect l="l" t="t" r="r" b="b"/>
            <a:pathLst>
              <a:path w="323205" h="323205">
                <a:moveTo>
                  <a:pt x="40401" y="40401"/>
                </a:moveTo>
                <a:cubicBezTo>
                  <a:pt x="40401" y="29227"/>
                  <a:pt x="31374" y="20200"/>
                  <a:pt x="20200" y="20200"/>
                </a:cubicBezTo>
                <a:cubicBezTo>
                  <a:pt x="9027" y="20200"/>
                  <a:pt x="0" y="29227"/>
                  <a:pt x="0" y="40401"/>
                </a:cubicBezTo>
                <a:lnTo>
                  <a:pt x="0" y="252504"/>
                </a:lnTo>
                <a:cubicBezTo>
                  <a:pt x="0" y="280405"/>
                  <a:pt x="22599" y="303004"/>
                  <a:pt x="50501" y="303004"/>
                </a:cubicBezTo>
                <a:lnTo>
                  <a:pt x="303004" y="303004"/>
                </a:lnTo>
                <a:cubicBezTo>
                  <a:pt x="314178" y="303004"/>
                  <a:pt x="323205" y="293977"/>
                  <a:pt x="323205" y="282804"/>
                </a:cubicBezTo>
                <a:cubicBezTo>
                  <a:pt x="323205" y="271631"/>
                  <a:pt x="314178" y="262604"/>
                  <a:pt x="303004" y="262604"/>
                </a:cubicBezTo>
                <a:lnTo>
                  <a:pt x="50501" y="262604"/>
                </a:lnTo>
                <a:cubicBezTo>
                  <a:pt x="44946" y="262604"/>
                  <a:pt x="40401" y="258059"/>
                  <a:pt x="40401" y="252504"/>
                </a:cubicBezTo>
                <a:lnTo>
                  <a:pt x="40401" y="40401"/>
                </a:lnTo>
                <a:close/>
                <a:moveTo>
                  <a:pt x="297071" y="95068"/>
                </a:moveTo>
                <a:cubicBezTo>
                  <a:pt x="304961" y="87177"/>
                  <a:pt x="304961" y="74362"/>
                  <a:pt x="297071" y="66472"/>
                </a:cubicBezTo>
                <a:cubicBezTo>
                  <a:pt x="289180" y="58581"/>
                  <a:pt x="276365" y="58581"/>
                  <a:pt x="268475" y="66472"/>
                </a:cubicBezTo>
                <a:lnTo>
                  <a:pt x="202003" y="133006"/>
                </a:lnTo>
                <a:lnTo>
                  <a:pt x="165769" y="96835"/>
                </a:lnTo>
                <a:cubicBezTo>
                  <a:pt x="157878" y="88944"/>
                  <a:pt x="145063" y="88944"/>
                  <a:pt x="137173" y="96835"/>
                </a:cubicBezTo>
                <a:lnTo>
                  <a:pt x="76572" y="157436"/>
                </a:lnTo>
                <a:cubicBezTo>
                  <a:pt x="68681" y="165327"/>
                  <a:pt x="68681" y="178141"/>
                  <a:pt x="76572" y="186032"/>
                </a:cubicBezTo>
                <a:cubicBezTo>
                  <a:pt x="84462" y="193923"/>
                  <a:pt x="97277" y="193923"/>
                  <a:pt x="105168" y="186032"/>
                </a:cubicBezTo>
                <a:lnTo>
                  <a:pt x="151502" y="139698"/>
                </a:lnTo>
                <a:lnTo>
                  <a:pt x="187736" y="175932"/>
                </a:lnTo>
                <a:cubicBezTo>
                  <a:pt x="195627" y="183823"/>
                  <a:pt x="208442" y="183823"/>
                  <a:pt x="216333" y="175932"/>
                </a:cubicBezTo>
                <a:lnTo>
                  <a:pt x="297134" y="95131"/>
                </a:lnTo>
                <a:close/>
              </a:path>
            </a:pathLst>
          </a:custGeom>
          <a:solidFill>
            <a:srgbClr val="E9C46A"/>
          </a:solidFill>
          <a:ln/>
        </p:spPr>
      </p:sp>
      <p:sp>
        <p:nvSpPr>
          <p:cNvPr id="15" name="Text 12"/>
          <p:cNvSpPr/>
          <p:nvPr/>
        </p:nvSpPr>
        <p:spPr>
          <a:xfrm>
            <a:off x="4920595" y="5546103"/>
            <a:ext cx="235221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Model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4062" y="5941131"/>
            <a:ext cx="232527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2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revenue, 75% margins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13844" y="4648312"/>
            <a:ext cx="718233" cy="718233"/>
          </a:xfrm>
          <a:custGeom>
            <a:avLst/>
            <a:gdLst/>
            <a:ahLst/>
            <a:cxnLst/>
            <a:rect l="l" t="t" r="r" b="b"/>
            <a:pathLst>
              <a:path w="718233" h="718233">
                <a:moveTo>
                  <a:pt x="143647" y="0"/>
                </a:moveTo>
                <a:lnTo>
                  <a:pt x="574586" y="0"/>
                </a:lnTo>
                <a:cubicBezTo>
                  <a:pt x="653920" y="0"/>
                  <a:pt x="718233" y="64313"/>
                  <a:pt x="718233" y="143647"/>
                </a:cubicBezTo>
                <a:lnTo>
                  <a:pt x="718233" y="574586"/>
                </a:lnTo>
                <a:cubicBezTo>
                  <a:pt x="718233" y="653920"/>
                  <a:pt x="653920" y="718233"/>
                  <a:pt x="574586" y="718233"/>
                </a:cubicBezTo>
                <a:lnTo>
                  <a:pt x="143647" y="718233"/>
                </a:lnTo>
                <a:cubicBezTo>
                  <a:pt x="64313" y="718233"/>
                  <a:pt x="0" y="653920"/>
                  <a:pt x="0" y="574586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611358" y="4845826"/>
            <a:ext cx="323205" cy="323205"/>
          </a:xfrm>
          <a:custGeom>
            <a:avLst/>
            <a:gdLst/>
            <a:ahLst/>
            <a:cxnLst/>
            <a:rect l="l" t="t" r="r" b="b"/>
            <a:pathLst>
              <a:path w="323205" h="323205">
                <a:moveTo>
                  <a:pt x="222140" y="176753"/>
                </a:moveTo>
                <a:lnTo>
                  <a:pt x="101633" y="176753"/>
                </a:lnTo>
                <a:cubicBezTo>
                  <a:pt x="103463" y="217469"/>
                  <a:pt x="112490" y="254966"/>
                  <a:pt x="125305" y="282425"/>
                </a:cubicBezTo>
                <a:cubicBezTo>
                  <a:pt x="132501" y="297891"/>
                  <a:pt x="140266" y="308812"/>
                  <a:pt x="147462" y="315503"/>
                </a:cubicBezTo>
                <a:cubicBezTo>
                  <a:pt x="154532" y="322132"/>
                  <a:pt x="159393" y="323205"/>
                  <a:pt x="161918" y="323205"/>
                </a:cubicBezTo>
                <a:cubicBezTo>
                  <a:pt x="164443" y="323205"/>
                  <a:pt x="169304" y="322132"/>
                  <a:pt x="176374" y="315503"/>
                </a:cubicBezTo>
                <a:cubicBezTo>
                  <a:pt x="183570" y="308812"/>
                  <a:pt x="191335" y="297828"/>
                  <a:pt x="198531" y="282425"/>
                </a:cubicBezTo>
                <a:cubicBezTo>
                  <a:pt x="211346" y="254966"/>
                  <a:pt x="220373" y="217469"/>
                  <a:pt x="222203" y="176753"/>
                </a:cubicBezTo>
                <a:close/>
                <a:moveTo>
                  <a:pt x="101570" y="146452"/>
                </a:moveTo>
                <a:lnTo>
                  <a:pt x="222077" y="146452"/>
                </a:lnTo>
                <a:cubicBezTo>
                  <a:pt x="220309" y="105736"/>
                  <a:pt x="211282" y="68239"/>
                  <a:pt x="198468" y="40779"/>
                </a:cubicBezTo>
                <a:cubicBezTo>
                  <a:pt x="191272" y="25377"/>
                  <a:pt x="183507" y="14393"/>
                  <a:pt x="176311" y="7701"/>
                </a:cubicBezTo>
                <a:cubicBezTo>
                  <a:pt x="169241" y="1073"/>
                  <a:pt x="164380" y="0"/>
                  <a:pt x="161855" y="0"/>
                </a:cubicBezTo>
                <a:cubicBezTo>
                  <a:pt x="159330" y="0"/>
                  <a:pt x="154469" y="1073"/>
                  <a:pt x="147399" y="7701"/>
                </a:cubicBezTo>
                <a:cubicBezTo>
                  <a:pt x="140203" y="14393"/>
                  <a:pt x="132438" y="25377"/>
                  <a:pt x="125242" y="40779"/>
                </a:cubicBezTo>
                <a:cubicBezTo>
                  <a:pt x="112427" y="68239"/>
                  <a:pt x="103400" y="105736"/>
                  <a:pt x="101570" y="146452"/>
                </a:cubicBezTo>
                <a:close/>
                <a:moveTo>
                  <a:pt x="71269" y="146452"/>
                </a:moveTo>
                <a:cubicBezTo>
                  <a:pt x="73479" y="92416"/>
                  <a:pt x="87429" y="42231"/>
                  <a:pt x="107819" y="9280"/>
                </a:cubicBezTo>
                <a:cubicBezTo>
                  <a:pt x="49680" y="29859"/>
                  <a:pt x="6881" y="82821"/>
                  <a:pt x="947" y="146452"/>
                </a:cubicBezTo>
                <a:lnTo>
                  <a:pt x="71269" y="146452"/>
                </a:lnTo>
                <a:close/>
                <a:moveTo>
                  <a:pt x="947" y="176753"/>
                </a:moveTo>
                <a:cubicBezTo>
                  <a:pt x="6881" y="240384"/>
                  <a:pt x="49680" y="293346"/>
                  <a:pt x="107819" y="313925"/>
                </a:cubicBezTo>
                <a:cubicBezTo>
                  <a:pt x="87429" y="280973"/>
                  <a:pt x="73479" y="230788"/>
                  <a:pt x="71269" y="176753"/>
                </a:cubicBezTo>
                <a:lnTo>
                  <a:pt x="947" y="176753"/>
                </a:lnTo>
                <a:close/>
                <a:moveTo>
                  <a:pt x="252441" y="176753"/>
                </a:moveTo>
                <a:cubicBezTo>
                  <a:pt x="250231" y="230788"/>
                  <a:pt x="236280" y="280973"/>
                  <a:pt x="215891" y="313925"/>
                </a:cubicBezTo>
                <a:cubicBezTo>
                  <a:pt x="274030" y="293283"/>
                  <a:pt x="316829" y="240384"/>
                  <a:pt x="322763" y="176753"/>
                </a:cubicBezTo>
                <a:lnTo>
                  <a:pt x="252441" y="176753"/>
                </a:lnTo>
                <a:close/>
                <a:moveTo>
                  <a:pt x="322763" y="146452"/>
                </a:moveTo>
                <a:cubicBezTo>
                  <a:pt x="316829" y="82821"/>
                  <a:pt x="274030" y="29859"/>
                  <a:pt x="215891" y="9280"/>
                </a:cubicBezTo>
                <a:cubicBezTo>
                  <a:pt x="236280" y="42231"/>
                  <a:pt x="250231" y="92416"/>
                  <a:pt x="252441" y="146452"/>
                </a:cubicBezTo>
                <a:lnTo>
                  <a:pt x="322763" y="146452"/>
                </a:lnTo>
                <a:close/>
              </a:path>
            </a:pathLst>
          </a:custGeom>
          <a:solidFill>
            <a:srgbClr val="F1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7596573" y="5546103"/>
            <a:ext cx="235221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97" b="1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Massive Market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10040" y="5941131"/>
            <a:ext cx="232527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2" dirty="0">
                <a:solidFill>
                  <a:srgbClr val="F1F5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$404B EdTech opportunity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62776" y="680301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0200" y="26934"/>
                </a:moveTo>
                <a:cubicBezTo>
                  <a:pt x="9048" y="26934"/>
                  <a:pt x="0" y="35982"/>
                  <a:pt x="0" y="47134"/>
                </a:cubicBezTo>
                <a:cubicBezTo>
                  <a:pt x="0" y="53489"/>
                  <a:pt x="2988" y="59465"/>
                  <a:pt x="8080" y="63294"/>
                </a:cubicBezTo>
                <a:lnTo>
                  <a:pt x="95615" y="128945"/>
                </a:lnTo>
                <a:cubicBezTo>
                  <a:pt x="102811" y="134332"/>
                  <a:pt x="112659" y="134332"/>
                  <a:pt x="119855" y="128945"/>
                </a:cubicBezTo>
                <a:lnTo>
                  <a:pt x="207390" y="63294"/>
                </a:lnTo>
                <a:cubicBezTo>
                  <a:pt x="212482" y="59465"/>
                  <a:pt x="215470" y="53489"/>
                  <a:pt x="215470" y="47134"/>
                </a:cubicBezTo>
                <a:cubicBezTo>
                  <a:pt x="215470" y="35982"/>
                  <a:pt x="206422" y="26934"/>
                  <a:pt x="195270" y="26934"/>
                </a:cubicBezTo>
                <a:lnTo>
                  <a:pt x="20200" y="26934"/>
                </a:lnTo>
                <a:close/>
                <a:moveTo>
                  <a:pt x="0" y="82485"/>
                </a:moveTo>
                <a:lnTo>
                  <a:pt x="0" y="161602"/>
                </a:lnTo>
                <a:cubicBezTo>
                  <a:pt x="0" y="176458"/>
                  <a:pt x="12078" y="188536"/>
                  <a:pt x="26934" y="188536"/>
                </a:cubicBezTo>
                <a:lnTo>
                  <a:pt x="188536" y="188536"/>
                </a:lnTo>
                <a:cubicBezTo>
                  <a:pt x="203392" y="188536"/>
                  <a:pt x="215470" y="176458"/>
                  <a:pt x="215470" y="161602"/>
                </a:cubicBezTo>
                <a:lnTo>
                  <a:pt x="215470" y="82485"/>
                </a:lnTo>
                <a:lnTo>
                  <a:pt x="131975" y="145105"/>
                </a:lnTo>
                <a:cubicBezTo>
                  <a:pt x="117625" y="155879"/>
                  <a:pt x="97845" y="155879"/>
                  <a:pt x="83495" y="145105"/>
                </a:cubicBezTo>
                <a:lnTo>
                  <a:pt x="0" y="8248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Text 19"/>
          <p:cNvSpPr/>
          <p:nvPr/>
        </p:nvSpPr>
        <p:spPr>
          <a:xfrm>
            <a:off x="4003937" y="6785054"/>
            <a:ext cx="196616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hello@focusreward.com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83835" y="6767099"/>
            <a:ext cx="8978" cy="287293"/>
          </a:xfrm>
          <a:custGeom>
            <a:avLst/>
            <a:gdLst/>
            <a:ahLst/>
            <a:cxnLst/>
            <a:rect l="l" t="t" r="r" b="b"/>
            <a:pathLst>
              <a:path w="8978" h="287293">
                <a:moveTo>
                  <a:pt x="0" y="0"/>
                </a:moveTo>
                <a:lnTo>
                  <a:pt x="8978" y="0"/>
                </a:lnTo>
                <a:lnTo>
                  <a:pt x="8978" y="287293"/>
                </a:lnTo>
                <a:lnTo>
                  <a:pt x="0" y="287293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8863" y="680301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67418" y="10521"/>
                </a:moveTo>
                <a:cubicBezTo>
                  <a:pt x="64094" y="2567"/>
                  <a:pt x="55425" y="-1641"/>
                  <a:pt x="47176" y="589"/>
                </a:cubicBezTo>
                <a:lnTo>
                  <a:pt x="44861" y="1220"/>
                </a:lnTo>
                <a:cubicBezTo>
                  <a:pt x="17675" y="8627"/>
                  <a:pt x="-5555" y="34972"/>
                  <a:pt x="1220" y="67040"/>
                </a:cubicBezTo>
                <a:cubicBezTo>
                  <a:pt x="16834" y="140687"/>
                  <a:pt x="74783" y="198636"/>
                  <a:pt x="148430" y="214249"/>
                </a:cubicBezTo>
                <a:cubicBezTo>
                  <a:pt x="180540" y="221067"/>
                  <a:pt x="206843" y="197795"/>
                  <a:pt x="214249" y="170608"/>
                </a:cubicBezTo>
                <a:lnTo>
                  <a:pt x="214881" y="168294"/>
                </a:lnTo>
                <a:cubicBezTo>
                  <a:pt x="217153" y="160003"/>
                  <a:pt x="212903" y="151334"/>
                  <a:pt x="204991" y="148051"/>
                </a:cubicBezTo>
                <a:lnTo>
                  <a:pt x="164043" y="131007"/>
                </a:lnTo>
                <a:cubicBezTo>
                  <a:pt x="157099" y="128104"/>
                  <a:pt x="149061" y="130124"/>
                  <a:pt x="144264" y="135973"/>
                </a:cubicBezTo>
                <a:lnTo>
                  <a:pt x="128019" y="155837"/>
                </a:lnTo>
                <a:cubicBezTo>
                  <a:pt x="98434" y="141150"/>
                  <a:pt x="74615" y="116573"/>
                  <a:pt x="60938" y="86398"/>
                </a:cubicBezTo>
                <a:lnTo>
                  <a:pt x="79539" y="71248"/>
                </a:lnTo>
                <a:cubicBezTo>
                  <a:pt x="85388" y="66493"/>
                  <a:pt x="87366" y="58455"/>
                  <a:pt x="84505" y="51469"/>
                </a:cubicBezTo>
                <a:lnTo>
                  <a:pt x="67418" y="1052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2"/>
          <p:cNvSpPr/>
          <p:nvPr/>
        </p:nvSpPr>
        <p:spPr>
          <a:xfrm>
            <a:off x="7020023" y="6785054"/>
            <a:ext cx="158011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dirty="0">
                <a:solidFill>
                  <a:srgbClr val="F1F5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+91 XXXXX XXXXX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FocusReward - Investor Pitch Deck</dc:title>
  <dc:subject>FocusReward - Investor Pitch Deck</dc:subject>
  <dc:creator>Kimi</dc:creator>
  <cp:lastModifiedBy>Kimi</cp:lastModifiedBy>
  <cp:revision>1</cp:revision>
  <dcterms:created xsi:type="dcterms:W3CDTF">2026-04-17T22:27:50Z</dcterms:created>
  <dcterms:modified xsi:type="dcterms:W3CDTF">2026-04-17T22:27:50Z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{"Label":"FocusReward - Investor Pitch Deck","ContentProducer":"001191110108MACG2KBH8F10000","ProduceID":"19d9d01c-40d2-8fa5-8000-00003f93e633","ReservedCode1":"","ContentPropagator":"001191110108MACG2KBH8F20000","PropagateID":"19d9d01c-40d2-8fa5-8000-00003f93e633","ReservedCode2":""}</vt:lpwstr>
  </property>
</Properties>
</file>